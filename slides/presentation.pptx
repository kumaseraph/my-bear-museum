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25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36639"/>
                </a:solidFill>
                <a:latin typeface="微軟正黑體"/>
              </a:rPr>
              <a:t>新北市政府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7F4F24"/>
                </a:solidFill>
                <a:latin typeface="微軟正黑體"/>
              </a:rPr>
              <a:t>115年員額評鑑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36639"/>
                </a:solidFill>
                <a:latin typeface="微軟正黑體"/>
              </a:rPr>
              <a:t>行前會議簡報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749039"/>
            <a:ext cx="2103120" cy="1905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9418320" cy="17373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526280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F4F24"/>
                </a:solidFill>
                <a:latin typeface="微軟正黑體"/>
              </a:rPr>
              <a:t>體育局及動物保護防疫處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920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6639"/>
                </a:solidFill>
                <a:latin typeface="微軟正黑體"/>
              </a:rPr>
              <a:t>實地評鑑行動藍圖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📅 115年6月18日（星期四）08:20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📍 市府行政大樓 27樓東側 2701會議室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66928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22C"/>
                </a:solidFill>
                <a:latin typeface="微軟正黑體"/>
              </a:rPr>
              <a:t>主持人：黃德清 參事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63640"/>
            <a:ext cx="10698480" cy="25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評鑑戰略價值鏈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6639"/>
                </a:solidFill>
                <a:latin typeface="微軟正黑體"/>
              </a:rPr>
              <a:t>從診斷到控管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74520"/>
            <a:ext cx="1097280" cy="411480"/>
          </a:xfrm>
          <a:prstGeom prst="round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階段一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F4F24"/>
                </a:solidFill>
                <a:latin typeface="微軟正黑體"/>
              </a:rPr>
              <a:t>現狀診斷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310896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22C"/>
                </a:solidFill>
                <a:latin typeface="微軟正黑體"/>
              </a:rPr>
              <a:t>・ 實地了解機關各面向運作狀況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22C"/>
                </a:solidFill>
                <a:latin typeface="微軟正黑體"/>
              </a:rPr>
              <a:t>・ 發掘現行編制與實際業務之落差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737360"/>
            <a:ext cx="3474720" cy="411480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19" y="1874520"/>
            <a:ext cx="1097280" cy="411480"/>
          </a:xfrm>
          <a:prstGeom prst="round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1874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階段二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F4F24"/>
                </a:solidFill>
                <a:latin typeface="微軟正黑體"/>
              </a:rPr>
              <a:t>具體改善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39" y="2926080"/>
            <a:ext cx="310896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3108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22C"/>
                </a:solidFill>
                <a:latin typeface="微軟正黑體"/>
              </a:rPr>
              <a:t>・ 針對機關內部人力問題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3886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22C"/>
                </a:solidFill>
                <a:latin typeface="微軟正黑體"/>
              </a:rPr>
              <a:t>・ 提出具體、可執行的改善措施與解方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737360"/>
            <a:ext cx="3474720" cy="411480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6760" y="1874520"/>
            <a:ext cx="1097280" cy="411480"/>
          </a:xfrm>
          <a:prstGeom prst="round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74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階段三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F4F24"/>
                </a:solidFill>
                <a:latin typeface="微軟正黑體"/>
              </a:rPr>
              <a:t>戰略目標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926080"/>
            <a:ext cx="310896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108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322C"/>
                </a:solidFill>
                <a:latin typeface="微軟正黑體"/>
              </a:rPr>
              <a:t>・ 作為市府各機關「人力運用控管」之核心決策參據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六大評鑑核心維度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6639"/>
                </a:solidFill>
                <a:latin typeface="微軟正黑體"/>
              </a:rPr>
              <a:t>115年  體育局 / 動保處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21945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組織面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6639"/>
                </a:solidFill>
                <a:latin typeface="Arial"/>
              </a:rPr>
              <a:t>Organizational Dimension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97480"/>
            <a:ext cx="320040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檢視組織架構與層級合理性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691640"/>
            <a:ext cx="3474720" cy="21945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19" y="182880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799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業務面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350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6639"/>
                </a:solidFill>
                <a:latin typeface="Arial"/>
              </a:rPr>
              <a:t>Business/Operations Dimension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19" y="2697480"/>
            <a:ext cx="320040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28346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盤點核心業務負擔與資源配置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91640"/>
            <a:ext cx="3474720" cy="21945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6760" y="182880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874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人力面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50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6639"/>
                </a:solidFill>
                <a:latin typeface="Arial"/>
              </a:rPr>
              <a:t>Human Resources Dimension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697480"/>
            <a:ext cx="320040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8346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評估現有員額運用效能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3474720" cy="21945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財務面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6639"/>
                </a:solidFill>
                <a:latin typeface="Arial"/>
              </a:rPr>
              <a:t>Financial Dimension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120640"/>
            <a:ext cx="320040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2578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檢驗經費運用與人力成本效益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59" y="4114800"/>
            <a:ext cx="3474720" cy="21945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17719" y="425196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19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799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工作方法與流程面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19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6639"/>
                </a:solidFill>
                <a:latin typeface="Arial"/>
              </a:rPr>
              <a:t>Work Methods and Process Dimension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19" y="5120640"/>
            <a:ext cx="320040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19" y="52578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探討行政效率與流程簡化空間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114800"/>
            <a:ext cx="3474720" cy="21945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多元人力運用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6639"/>
                </a:solidFill>
                <a:latin typeface="Arial"/>
              </a:rPr>
              <a:t>Others / Diverse Manpower Utilization Dimension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5120640"/>
            <a:ext cx="3200400" cy="1270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52578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檢視非正式人力及委外業務之運用狀況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核心評鑑小組陣容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6639"/>
                </a:solidFill>
                <a:latin typeface="微軟正黑體"/>
              </a:rPr>
              <a:t>115年  體育局 / 動保處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868680"/>
          </a:xfrm>
          <a:prstGeom prst="roundRect">
            <a:avLst/>
          </a:prstGeom>
          <a:solidFill>
            <a:srgbClr val="7F4F24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4A8"/>
                </a:solidFill>
                <a:latin typeface="微軟正黑體"/>
              </a:rPr>
              <a:t>召集人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黃德清  —  新北市政府 參事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10698480" cy="182880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6639"/>
                </a:solidFill>
                <a:latin typeface="微軟正黑體"/>
              </a:rPr>
              <a:t>專家學者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呂育誠 教授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國立臺北大學 公共行政暨政策學系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26769"/>
                </a:solidFill>
                <a:latin typeface="微軟正黑體"/>
              </a:rPr>
              <a:t>（全日參與）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葉公鼎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國立體育大學 休閒產業經營學系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26769"/>
                </a:solidFill>
                <a:latin typeface="微軟正黑體"/>
              </a:rPr>
              <a:t>（僅參與上午 體育局）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吳宗憲 教授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國立臺南大學 行政管理學系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26769"/>
                </a:solidFill>
                <a:latin typeface="微軟正黑體"/>
              </a:rPr>
              <a:t>（僅參與下午 動保處）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173736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6639"/>
                </a:solidFill>
                <a:latin typeface="微軟正黑體"/>
              </a:rPr>
              <a:t>府內委員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4F24"/>
                </a:solidFill>
                <a:latin typeface="微軟正黑體"/>
              </a:rPr>
              <a:t>▸ 王世英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財政局 專門委員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4F24"/>
                </a:solidFill>
                <a:latin typeface="微軟正黑體"/>
              </a:rPr>
              <a:t>▸ 邱淑美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主計處 專門委員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4F24"/>
                </a:solidFill>
                <a:latin typeface="微軟正黑體"/>
              </a:rPr>
              <a:t>▸ 王瑞玲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研究發展考核委員會 專門委員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4F24"/>
                </a:solidFill>
                <a:latin typeface="微軟正黑體"/>
              </a:rPr>
              <a:t>▸ 洪久雅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人事處 副處長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6月18日 行動總覽全景圖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548640"/>
          </a:xfrm>
          <a:prstGeom prst="round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體育局（上午）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08:50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77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B2 司機休息室集合出發（人事處派車）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09:00 - 09:10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63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1樓簡報室 │ 長官致詞與流程說明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09:10 - 09:30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4903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業務簡報與座談
（※ 09:10前確定訪談名單）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09:30 - 11:30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434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實地個別訪談（分3組進行）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11:30 - 12:00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120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交換意見與結語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691640"/>
            <a:ext cx="5120640" cy="438912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691640"/>
            <a:ext cx="5120640" cy="548640"/>
          </a:xfrm>
          <a:prstGeom prst="round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動保處（下午）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774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13:20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77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B2 司機休息室集合出發
（※ 13:15可先於2701會議室集合）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632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13:30 - 13:40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063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3樓會議室 │ 長官致詞與流程說明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490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13:40 - 14:00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74903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業務簡報與座談
（※ 13:40前確定訪談名單）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14:00 - 16:00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434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實地個別訪談（分3組進行）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6769"/>
                </a:solidFill>
                <a:latin typeface="微軟正黑體"/>
              </a:rPr>
              <a:t>16:00 - 16:30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120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交換意見與結語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委員任務部署矩陣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502920"/>
          </a:xfrm>
          <a:prstGeom prst="roundRect">
            <a:avLst/>
          </a:prstGeom>
          <a:solidFill>
            <a:srgbClr val="7F4F24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組別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時段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組長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委員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工作小組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698480" cy="667512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26769"/>
                </a:solidFill>
                <a:latin typeface="微軟正黑體"/>
              </a:rPr>
              <a:t>第1組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AM（體育局）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331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呂育誠 教授
（全日不變）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王世英 專委
（全日不變）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317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唐薇甯 科長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99232"/>
            <a:ext cx="10698480" cy="667512"/>
          </a:xfrm>
          <a:prstGeom prst="roundRect">
            <a:avLst/>
          </a:prstGeom>
          <a:solidFill>
            <a:srgbClr val="ECE2D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44952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26769"/>
                </a:solidFill>
                <a:latin typeface="微軟正黑體"/>
              </a:rPr>
              <a:t>第1組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04495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PM（動保處）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0449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呂育誠 教授
（全日不變）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449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王世英 專委
（全日不變）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4495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蔡孟倫 股長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12464"/>
            <a:ext cx="10698480" cy="667512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58184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26769"/>
                </a:solidFill>
                <a:latin typeface="微軟正黑體"/>
              </a:rPr>
              <a:t>第2組⚠️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758184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AM（體育局）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7581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葉公鼎 教授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581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邱淑美 專委
（全日不變）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75818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蔡孟倫 股長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425696"/>
            <a:ext cx="10698480" cy="667512"/>
          </a:xfrm>
          <a:prstGeom prst="roundRect">
            <a:avLst/>
          </a:prstGeom>
          <a:solidFill>
            <a:srgbClr val="ECE2D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71416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26769"/>
                </a:solidFill>
                <a:latin typeface="微軟正黑體"/>
              </a:rPr>
              <a:t>第2組⚠️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471416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PM（動保處）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4714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吳宗憲 教授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714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邱淑美 專委
（全日不變）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7141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陳琳蒂 股長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138928"/>
            <a:ext cx="10698480" cy="667512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18464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26769"/>
                </a:solidFill>
                <a:latin typeface="微軟正黑體"/>
              </a:rPr>
              <a:t>第3組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18464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AM（體育局）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1846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洪久雅 副處長
（全日不變）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1846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王瑞玲 專委
（全日不變）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1846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洪舒菁 科員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852160"/>
            <a:ext cx="10698480" cy="667512"/>
          </a:xfrm>
          <a:prstGeom prst="roundRect">
            <a:avLst/>
          </a:prstGeom>
          <a:solidFill>
            <a:srgbClr val="ECE2D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9788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26769"/>
                </a:solidFill>
                <a:latin typeface="微軟正黑體"/>
              </a:rPr>
              <a:t>第3組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8978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PM（動保處）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5897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洪久雅 副處長
（全日不變）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897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王瑞玲 專委
（全日不變）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8978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22C"/>
                </a:solidFill>
                <a:latin typeface="微軟正黑體"/>
              </a:rPr>
              <a:t>馮于宣 科員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實地訪談取樣法則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303520" cy="457200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取樣漏斗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4754880" cy="777240"/>
          </a:xfrm>
          <a:prstGeom prst="roundRect">
            <a:avLst/>
          </a:prstGeom>
          <a:solidFill>
            <a:srgbClr val="E8E0D5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4F24"/>
                </a:solidFill>
                <a:latin typeface="微軟正黑體"/>
              </a:rPr>
              <a:t>Pool（母體池）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受評機關全體員工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80" y="3063240"/>
            <a:ext cx="457200" cy="411480"/>
          </a:xfrm>
          <a:prstGeom prst="downArrow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4754880" cy="1371600"/>
          </a:xfrm>
          <a:prstGeom prst="roundRect">
            <a:avLst/>
          </a:prstGeom>
          <a:solidFill>
            <a:srgbClr val="D4C4A8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4F24"/>
                </a:solidFill>
                <a:latin typeface="微軟正黑體"/>
              </a:rPr>
              <a:t>Filters（過濾條件）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① 辦理核心業務
② 服務年資滿 3 年以上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926080" y="4937760"/>
            <a:ext cx="457200" cy="411480"/>
          </a:xfrm>
          <a:prstGeom prst="downArrow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394960"/>
            <a:ext cx="4754880" cy="731520"/>
          </a:xfrm>
          <a:prstGeom prst="round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軟正黑體"/>
              </a:rPr>
              <a:t>Output（輸出結果）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424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每組 7-8 位員工（由各組於評鑑當日簡報後選定）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691640"/>
            <a:ext cx="4937760" cy="457200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4F24"/>
                </a:solidFill>
                <a:latin typeface="微軟正黑體"/>
              </a:rPr>
              <a:t>執行參數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286000"/>
            <a:ext cx="4480560" cy="1188720"/>
          </a:xfrm>
          <a:prstGeom prst="roundRect">
            <a:avLst/>
          </a:prstGeom>
          <a:solidFill>
            <a:srgbClr val="E8E0D5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377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節奏 Rhythm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889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每人 15 分鐘為原則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657600"/>
            <a:ext cx="4480560" cy="1188720"/>
          </a:xfrm>
          <a:prstGeom prst="roundRect">
            <a:avLst/>
          </a:prstGeom>
          <a:solidFill>
            <a:srgbClr val="E8E0D5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49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工具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1605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依據受評報告、當日發現問題及人事處參考題目發問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5029200"/>
            <a:ext cx="4480560" cy="1188720"/>
          </a:xfrm>
          <a:prstGeom prst="roundRect">
            <a:avLst/>
          </a:prstGeom>
          <a:solidFill>
            <a:srgbClr val="E8E0D5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控管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32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由各組組長（教授/副處長）嚴格掌握時間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從洞察到決策：知識提煉閉環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566160" cy="420624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566160" cy="548640"/>
          </a:xfrm>
          <a:prstGeom prst="round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輸入來源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▸ 受評機關書面報告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（預計 5 月上旬提供，請先行研讀）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▸ 業務簡報當下發現之疑義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（隨時提問並作筆記）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▸ 15分鐘深度個別訪談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22C"/>
                </a:solidFill>
                <a:latin typeface="微軟正黑體"/>
              </a:rPr>
              <a:t>（摘要記錄真實回饋）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691640"/>
            <a:ext cx="3566160" cy="420624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691640"/>
            <a:ext cx="3566160" cy="548640"/>
          </a:xfrm>
          <a:prstGeom prst="round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處理與整合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▸ 統整六大維度發現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▸ 與受評機關代表進行最終意見交流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691640"/>
            <a:ext cx="3566160" cy="420624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1691640"/>
            <a:ext cx="3566160" cy="548640"/>
          </a:xfrm>
          <a:prstGeom prst="roundRect">
            <a:avLst/>
          </a:prstGeom>
          <a:solidFill>
            <a:srgbClr val="936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輸出結果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4F24"/>
                </a:solidFill>
                <a:latin typeface="微軟正黑體"/>
              </a:rPr>
              <a:t>▸ 員額評鑑意見表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軟正黑體"/>
              </a:rPr>
              <a:t>新北市政府 115年員額評鑑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F4F24"/>
                </a:solidFill>
                <a:latin typeface="微軟正黑體"/>
              </a:rPr>
              <a:t>關鍵行動清單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155448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286000" cy="1554480"/>
          </a:xfrm>
          <a:prstGeom prst="round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5月11日（一）前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6639"/>
                </a:solidFill>
                <a:latin typeface="微軟正黑體"/>
              </a:rPr>
              <a:t>主要行動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F4F24"/>
                </a:solidFill>
                <a:latin typeface="微軟正黑體"/>
              </a:rPr>
              <a:t>行程與名單修正建議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06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若對行程表或訪談分組有任何建議，請於此日期前回覆人事處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155448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2286000" cy="1554480"/>
          </a:xfrm>
          <a:prstGeom prst="roundRect">
            <a:avLst/>
          </a:prstGeom>
          <a:solidFill>
            <a:srgbClr val="7F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6月18日（四）評鑑當日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20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6639"/>
                </a:solidFill>
                <a:latin typeface="微軟正黑體"/>
              </a:rPr>
              <a:t>主要行動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F4F24"/>
                </a:solidFill>
                <a:latin typeface="微軟正黑體"/>
              </a:rPr>
              <a:t>攜帶紙本資料與會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976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請自行攜帶會議資料及受評機關書面報告。會議現場不另發紙本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10698480" cy="155448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2286000" cy="1554480"/>
          </a:xfrm>
          <a:prstGeom prst="roundRect">
            <a:avLst/>
          </a:prstGeom>
          <a:solidFill>
            <a:srgbClr val="936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6月26日（五）前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212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6639"/>
                </a:solidFill>
                <a:latin typeface="微軟正黑體"/>
              </a:rPr>
              <a:t>主要行動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532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F4F24"/>
                </a:solidFill>
                <a:latin typeface="微軟正黑體"/>
              </a:rPr>
              <a:t>繳交最終意見表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9893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22C"/>
                </a:solidFill>
                <a:latin typeface="微軟正黑體"/>
              </a:rPr>
              <a:t>完成「員額評鑑意見表」填寫，並擲送人事處人力科蔡孟倫股長
AN2585@ntpc.gov.tw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3175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6769"/>
                </a:solidFill>
                <a:latin typeface="Arial"/>
              </a:rPr>
              <a:t>OPINION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F4F24"/>
                </a:solidFill>
                <a:latin typeface="微軟正黑體"/>
              </a:rPr>
              <a:t>意見交流與討論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19050"/>
          </a:xfrm>
          <a:prstGeom prst="rect">
            <a:avLst/>
          </a:prstGeom>
          <a:solidFill>
            <a:srgbClr val="D4C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6639"/>
                </a:solidFill>
                <a:latin typeface="微軟正黑體"/>
              </a:rPr>
              <a:t>針對評鑑內容、行程安排及相關事項交流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480560"/>
            <a:ext cx="8503920" cy="1097280"/>
          </a:xfrm>
          <a:prstGeom prst="roundRect">
            <a:avLst/>
          </a:prstGeom>
          <a:solidFill>
            <a:srgbClr val="F5EDE0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F4F24"/>
                </a:solidFill>
                <a:latin typeface="微軟正黑體"/>
              </a:rPr>
              <a:t>「精準除錯，共同優化新北市政府人力結構與效能。」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06440"/>
            <a:ext cx="10698480" cy="3175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4C4A8"/>
                </a:solidFill>
                <a:latin typeface="微軟正黑體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