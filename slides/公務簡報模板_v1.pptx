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0"/>
            <a:ext cx="11825935" cy="73152"/>
          </a:xfrm>
          <a:prstGeom prst="rect">
            <a:avLst/>
          </a:prstGeom>
          <a:solidFill>
            <a:srgbClr val="C9A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645920"/>
            <a:ext cx="2011680" cy="45720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7099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工作報告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A1A2E"/>
                </a:solidFill>
                <a:latin typeface="Arial"/>
              </a:defRPr>
            </a:pPr>
            <a:r>
              <a:t>113年度工作成果報告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657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6B7280"/>
                </a:solidFill>
                <a:latin typeface="Arial"/>
              </a:defRPr>
            </a:pPr>
            <a:r>
              <a:t>○○市政府○○處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389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B6CBF"/>
                </a:solidFill>
                <a:latin typeface="Arial"/>
              </a:defRPr>
            </a:pPr>
            <a:r>
              <a:t>114年1月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6583680"/>
            <a:ext cx="11825935" cy="274320"/>
          </a:xfrm>
          <a:prstGeom prst="rect">
            <a:avLst/>
          </a:prstGeom>
          <a:solidFill>
            <a:srgbClr val="C9A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報告大綱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C9A86C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645920"/>
            <a:ext cx="640080" cy="640080"/>
          </a:xfrm>
          <a:prstGeom prst="ellipse">
            <a:avLst/>
          </a:prstGeom>
          <a:solidFill>
            <a:srgbClr val="2B6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691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2E"/>
                </a:solidFill>
                <a:latin typeface="Arial"/>
              </a:defRPr>
            </a:pPr>
            <a:r>
              <a:t>執行概況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057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Arial"/>
              </a:defRPr>
            </a:pPr>
            <a:r>
              <a:t>已完成的主要工作項目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834640"/>
            <a:ext cx="640080" cy="640080"/>
          </a:xfrm>
          <a:prstGeom prst="ellipse">
            <a:avLst/>
          </a:prstGeom>
          <a:solidFill>
            <a:srgbClr val="2B6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926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880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2E"/>
                </a:solidFill>
                <a:latin typeface="Arial"/>
              </a:defRPr>
            </a:pPr>
            <a:r>
              <a:t>重要成果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246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Arial"/>
              </a:defRPr>
            </a:pPr>
            <a:r>
              <a:t>各項業務的具體成效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023360"/>
            <a:ext cx="640080" cy="640080"/>
          </a:xfrm>
          <a:prstGeom prst="ellipse">
            <a:avLst/>
          </a:prstGeom>
          <a:solidFill>
            <a:srgbClr val="2B6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114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069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2E"/>
                </a:solidFill>
                <a:latin typeface="Arial"/>
              </a:defRPr>
            </a:pPr>
            <a:r>
              <a:t>檢討改進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434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Arial"/>
              </a:defRPr>
            </a:pPr>
            <a:r>
              <a:t>發現的問題與改善措施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5212080"/>
            <a:ext cx="640080" cy="640080"/>
          </a:xfrm>
          <a:prstGeom prst="ellipse">
            <a:avLst/>
          </a:prstGeom>
          <a:solidFill>
            <a:srgbClr val="2B6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303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257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2E"/>
                </a:solidFill>
                <a:latin typeface="Arial"/>
              </a:defRPr>
            </a:pPr>
            <a:r>
              <a:t>未來展望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5623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Arial"/>
              </a:defRPr>
            </a:pPr>
            <a:r>
              <a:t>114年度工作方向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執行概況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C9A86C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23774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6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2B6CBF"/>
                </a:solidFill>
                <a:latin typeface="Arial"/>
              </a:defRPr>
            </a:pPr>
            <a: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9A86C"/>
                </a:solidFill>
                <a:latin typeface="Arial"/>
              </a:defRPr>
            </a:pPr>
            <a:r>
              <a:t>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Arial"/>
              </a:defRPr>
            </a:pPr>
            <a:r>
              <a:t>完成工作項目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39" y="1645920"/>
            <a:ext cx="23774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6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39" y="18288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2B6CBF"/>
                </a:solidFill>
                <a:latin typeface="Arial"/>
              </a:defRPr>
            </a:pPr>
            <a:r>
              <a:t>95%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39" y="2651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9A86C"/>
                </a:solidFill>
                <a:latin typeface="Arial"/>
              </a:defRPr>
            </a:pPr>
            <a:r>
              <a:t>達成率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39" y="3108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Arial"/>
              </a:defRPr>
            </a:pPr>
            <a:r>
              <a:t>年度目標達成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645920"/>
            <a:ext cx="23774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6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18288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2B6CBF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651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9A86C"/>
                </a:solidFill>
                <a:latin typeface="Arial"/>
              </a:defRPr>
            </a:pPr>
            <a:r>
              <a:t>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108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Arial"/>
              </a:defRPr>
            </a:pPr>
            <a:r>
              <a:t>教育訓練辦理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95360" y="1645920"/>
            <a:ext cx="23774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6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18288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2B6CBF"/>
                </a:solidFill>
                <a:latin typeface="Arial"/>
              </a:defRPr>
            </a:pPr>
            <a:r>
              <a:t>3.2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2651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9A86C"/>
                </a:solidFill>
                <a:latin typeface="Arial"/>
              </a:defRPr>
            </a:pPr>
            <a:r>
              <a:t>萬人次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3108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Arial"/>
              </a:defRPr>
            </a:pPr>
            <a:r>
              <a:t>服務民眾人次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931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Arial"/>
              </a:defRPr>
            </a:pPr>
            <a:r>
              <a:t>年度目標進度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372D"/>
                </a:solidFill>
                <a:latin typeface="Arial"/>
              </a:defRPr>
            </a:pPr>
            <a:r>
              <a:t>業務推動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60320" y="4617720"/>
            <a:ext cx="7315200" cy="320040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560320" y="4617720"/>
            <a:ext cx="6729984" cy="320040"/>
          </a:xfrm>
          <a:prstGeom prst="roundRect">
            <a:avLst/>
          </a:prstGeom>
          <a:solidFill>
            <a:srgbClr val="2B6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0" y="45720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Arial"/>
              </a:defRPr>
            </a:pPr>
            <a:r>
              <a:t>92%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120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372D"/>
                </a:solidFill>
                <a:latin typeface="Arial"/>
              </a:defRPr>
            </a:pPr>
            <a:r>
              <a:t>人才培育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60320" y="5166359"/>
            <a:ext cx="7315200" cy="320040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560320" y="5166359"/>
            <a:ext cx="5705856" cy="320040"/>
          </a:xfrm>
          <a:prstGeom prst="roundRect">
            <a:avLst/>
          </a:prstGeom>
          <a:solidFill>
            <a:srgbClr val="2B6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0" y="5120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Arial"/>
              </a:defRPr>
            </a:pPr>
            <a:r>
              <a:t>78%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6692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372D"/>
                </a:solidFill>
                <a:latin typeface="Arial"/>
              </a:defRPr>
            </a:pPr>
            <a:r>
              <a:t>設施改善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60320" y="5714999"/>
            <a:ext cx="7315200" cy="320040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560320" y="5714999"/>
            <a:ext cx="6217920" cy="320040"/>
          </a:xfrm>
          <a:prstGeom prst="roundRect">
            <a:avLst/>
          </a:prstGeom>
          <a:solidFill>
            <a:srgbClr val="2B6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0" y="5669279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Arial"/>
              </a:defRPr>
            </a:pPr>
            <a:r>
              <a:t>85%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重要成果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C9A86C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Arial"/>
              </a:defRPr>
            </a:pPr>
            <a:r>
              <a:t>113年度重要工作時程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880360"/>
            <a:ext cx="10058400" cy="54864"/>
          </a:xfrm>
          <a:prstGeom prst="rect">
            <a:avLst/>
          </a:prstGeom>
          <a:solidFill>
            <a:srgbClr val="2B6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45920" y="2743200"/>
            <a:ext cx="457200" cy="457200"/>
          </a:xfrm>
          <a:prstGeom prst="ellipse">
            <a:avLst/>
          </a:prstGeom>
          <a:solidFill>
            <a:srgbClr val="C9A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28163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Q1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2918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Arial"/>
              </a:defRPr>
            </a:pPr>
            <a:r>
              <a:t>1-3月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576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372D"/>
                </a:solidFill>
                <a:latin typeface="Arial"/>
              </a:defRPr>
            </a:pPr>
            <a:r>
              <a:t>召開年度工作規劃會議</a:t>
            </a:r>
            <a:br/>
            <a:r>
              <a:t>確立目標與分工</a:t>
            </a:r>
          </a:p>
        </p:txBody>
      </p:sp>
      <p:sp>
        <p:nvSpPr>
          <p:cNvPr id="11" name="Oval 10"/>
          <p:cNvSpPr/>
          <p:nvPr/>
        </p:nvSpPr>
        <p:spPr>
          <a:xfrm>
            <a:off x="4206240" y="2743200"/>
            <a:ext cx="457200" cy="457200"/>
          </a:xfrm>
          <a:prstGeom prst="ellipse">
            <a:avLst/>
          </a:prstGeom>
          <a:solidFill>
            <a:srgbClr val="C9A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28163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2918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Arial"/>
              </a:defRPr>
            </a:pPr>
            <a:r>
              <a:t>4-6月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6576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372D"/>
                </a:solidFill>
                <a:latin typeface="Arial"/>
              </a:defRPr>
            </a:pPr>
            <a:r>
              <a:t>推動核心業務</a:t>
            </a:r>
            <a:br/>
            <a:r>
              <a:t>辦理教育訓練</a:t>
            </a:r>
          </a:p>
        </p:txBody>
      </p:sp>
      <p:sp>
        <p:nvSpPr>
          <p:cNvPr id="15" name="Oval 14"/>
          <p:cNvSpPr/>
          <p:nvPr/>
        </p:nvSpPr>
        <p:spPr>
          <a:xfrm>
            <a:off x="6766559" y="2743200"/>
            <a:ext cx="457200" cy="457200"/>
          </a:xfrm>
          <a:prstGeom prst="ellipse">
            <a:avLst/>
          </a:prstGeom>
          <a:solidFill>
            <a:srgbClr val="C9A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59" y="28163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Q3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2918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Arial"/>
              </a:defRPr>
            </a:pPr>
            <a:r>
              <a:t>7-9月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36576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372D"/>
                </a:solidFill>
                <a:latin typeface="Arial"/>
              </a:defRPr>
            </a:pPr>
            <a:r>
              <a:t>執行進度檢核</a:t>
            </a:r>
            <a:br/>
            <a:r>
              <a:t>設施改善施工</a:t>
            </a:r>
          </a:p>
        </p:txBody>
      </p:sp>
      <p:sp>
        <p:nvSpPr>
          <p:cNvPr id="19" name="Oval 18"/>
          <p:cNvSpPr/>
          <p:nvPr/>
        </p:nvSpPr>
        <p:spPr>
          <a:xfrm>
            <a:off x="9326880" y="2743200"/>
            <a:ext cx="457200" cy="457200"/>
          </a:xfrm>
          <a:prstGeom prst="ellipse">
            <a:avLst/>
          </a:prstGeom>
          <a:solidFill>
            <a:srgbClr val="C9A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28163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Q4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19" y="32918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Arial"/>
              </a:defRPr>
            </a:pPr>
            <a:r>
              <a:t>10-12月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59" y="36576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372D"/>
                </a:solidFill>
                <a:latin typeface="Arial"/>
              </a:defRPr>
            </a:pPr>
            <a:r>
              <a:t>成果驗收與評估</a:t>
            </a:r>
            <a:br/>
            <a:r>
              <a:t>擬定114年度計畫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組織架構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C9A86C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645920"/>
            <a:ext cx="2743200" cy="73152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0" y="17373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處長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0760" y="2377440"/>
            <a:ext cx="54864" cy="365760"/>
          </a:xfrm>
          <a:prstGeom prst="rect">
            <a:avLst/>
          </a:prstGeom>
          <a:solidFill>
            <a:srgbClr val="2B6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331720" y="2606040"/>
            <a:ext cx="7525512" cy="54864"/>
          </a:xfrm>
          <a:prstGeom prst="rect">
            <a:avLst/>
          </a:prstGeom>
          <a:solidFill>
            <a:srgbClr val="2B6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331720" y="2606040"/>
            <a:ext cx="54864" cy="182880"/>
          </a:xfrm>
          <a:prstGeom prst="rect">
            <a:avLst/>
          </a:prstGeom>
          <a:solidFill>
            <a:srgbClr val="2B6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811512" y="2606040"/>
            <a:ext cx="54864" cy="182880"/>
          </a:xfrm>
          <a:prstGeom prst="rect">
            <a:avLst/>
          </a:prstGeom>
          <a:solidFill>
            <a:srgbClr val="2B6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371600" y="2788920"/>
            <a:ext cx="2194560" cy="914400"/>
          </a:xfrm>
          <a:prstGeom prst="roundRect">
            <a:avLst/>
          </a:prstGeom>
          <a:solidFill>
            <a:srgbClr val="2B6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292607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第一科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29183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F4FC"/>
                </a:solidFill>
                <a:latin typeface="Arial"/>
              </a:defRPr>
            </a:pPr>
            <a:r>
              <a:t>綜合業務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2788920"/>
            <a:ext cx="2194560" cy="914400"/>
          </a:xfrm>
          <a:prstGeom prst="roundRect">
            <a:avLst/>
          </a:prstGeom>
          <a:solidFill>
            <a:srgbClr val="2B6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92607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第二科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29183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F4FC"/>
                </a:solidFill>
                <a:latin typeface="Arial"/>
              </a:defRPr>
            </a:pPr>
            <a:r>
              <a:t>技術業務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2788920"/>
            <a:ext cx="2194560" cy="914400"/>
          </a:xfrm>
          <a:prstGeom prst="roundRect">
            <a:avLst/>
          </a:prstGeom>
          <a:solidFill>
            <a:srgbClr val="2B6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292607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第三科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29183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F4FC"/>
                </a:solidFill>
                <a:latin typeface="Arial"/>
              </a:defRPr>
            </a:pPr>
            <a:r>
              <a:t>行政業務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4114800"/>
            <a:ext cx="914400" cy="548640"/>
          </a:xfrm>
          <a:prstGeom prst="roundRect">
            <a:avLst/>
          </a:prstGeom>
          <a:solidFill>
            <a:srgbClr val="E8F4FC"/>
          </a:solidFill>
          <a:ln w="6350">
            <a:solidFill>
              <a:srgbClr val="2B6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2519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372D"/>
                </a:solidFill>
                <a:latin typeface="Arial"/>
              </a:defRPr>
            </a:pPr>
            <a:r>
              <a:t>科員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01368" y="3749039"/>
            <a:ext cx="54864" cy="365760"/>
          </a:xfrm>
          <a:prstGeom prst="rect">
            <a:avLst/>
          </a:prstGeom>
          <a:solidFill>
            <a:srgbClr val="2B6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377440" y="4114800"/>
            <a:ext cx="914400" cy="548640"/>
          </a:xfrm>
          <a:prstGeom prst="roundRect">
            <a:avLst/>
          </a:prstGeom>
          <a:solidFill>
            <a:srgbClr val="E8F4FC"/>
          </a:solidFill>
          <a:ln w="6350">
            <a:solidFill>
              <a:srgbClr val="2B6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77440" y="42519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372D"/>
                </a:solidFill>
                <a:latin typeface="Arial"/>
              </a:defRPr>
            </a:pPr>
            <a:r>
              <a:t>科員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07208" y="3749039"/>
            <a:ext cx="54864" cy="365760"/>
          </a:xfrm>
          <a:prstGeom prst="rect">
            <a:avLst/>
          </a:prstGeom>
          <a:solidFill>
            <a:srgbClr val="2B6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72000" y="4114800"/>
            <a:ext cx="914400" cy="548640"/>
          </a:xfrm>
          <a:prstGeom prst="roundRect">
            <a:avLst/>
          </a:prstGeom>
          <a:solidFill>
            <a:srgbClr val="E8F4FC"/>
          </a:solidFill>
          <a:ln w="6350">
            <a:solidFill>
              <a:srgbClr val="2B6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42519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372D"/>
                </a:solidFill>
                <a:latin typeface="Arial"/>
              </a:defRPr>
            </a:pPr>
            <a:r>
              <a:t>科員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1768" y="3749039"/>
            <a:ext cx="54864" cy="365760"/>
          </a:xfrm>
          <a:prstGeom prst="rect">
            <a:avLst/>
          </a:prstGeom>
          <a:solidFill>
            <a:srgbClr val="2B6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577840" y="4114800"/>
            <a:ext cx="914400" cy="548640"/>
          </a:xfrm>
          <a:prstGeom prst="roundRect">
            <a:avLst/>
          </a:prstGeom>
          <a:solidFill>
            <a:srgbClr val="E8F4FC"/>
          </a:solidFill>
          <a:ln w="6350">
            <a:solidFill>
              <a:srgbClr val="2B6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77840" y="42519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372D"/>
                </a:solidFill>
                <a:latin typeface="Arial"/>
              </a:defRPr>
            </a:pPr>
            <a:r>
              <a:t>科員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07607" y="3749039"/>
            <a:ext cx="54864" cy="365760"/>
          </a:xfrm>
          <a:prstGeom prst="rect">
            <a:avLst/>
          </a:prstGeom>
          <a:solidFill>
            <a:srgbClr val="2B6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772400" y="4114800"/>
            <a:ext cx="914400" cy="548640"/>
          </a:xfrm>
          <a:prstGeom prst="roundRect">
            <a:avLst/>
          </a:prstGeom>
          <a:solidFill>
            <a:srgbClr val="E8F4FC"/>
          </a:solidFill>
          <a:ln w="6350">
            <a:solidFill>
              <a:srgbClr val="2B6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0" y="42519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372D"/>
                </a:solidFill>
                <a:latin typeface="Arial"/>
              </a:defRPr>
            </a:pPr>
            <a:r>
              <a:t>科員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02168" y="3749039"/>
            <a:ext cx="54864" cy="365760"/>
          </a:xfrm>
          <a:prstGeom prst="rect">
            <a:avLst/>
          </a:prstGeom>
          <a:solidFill>
            <a:srgbClr val="2B6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778240" y="4114800"/>
            <a:ext cx="914400" cy="548640"/>
          </a:xfrm>
          <a:prstGeom prst="roundRect">
            <a:avLst/>
          </a:prstGeom>
          <a:solidFill>
            <a:srgbClr val="E8F4FC"/>
          </a:solidFill>
          <a:ln w="6350">
            <a:solidFill>
              <a:srgbClr val="2B6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78240" y="42519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372D"/>
                </a:solidFill>
                <a:latin typeface="Arial"/>
              </a:defRPr>
            </a:pPr>
            <a:r>
              <a:t>科員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08008" y="3749039"/>
            <a:ext cx="54864" cy="365760"/>
          </a:xfrm>
          <a:prstGeom prst="rect">
            <a:avLst/>
          </a:prstGeom>
          <a:solidFill>
            <a:srgbClr val="2B6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結語與展望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C9A86C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50292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6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B6CBF"/>
                </a:solidFill>
                <a:latin typeface="Arial"/>
              </a:defRPr>
            </a:pPr>
            <a:r>
              <a:t>113年度成果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377440"/>
            <a:ext cx="182880" cy="182880"/>
          </a:xfrm>
          <a:prstGeom prst="ellipse">
            <a:avLst/>
          </a:prstGeom>
          <a:solidFill>
            <a:srgbClr val="C9A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286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372D"/>
                </a:solidFill>
                <a:latin typeface="Arial"/>
              </a:defRPr>
            </a:pPr>
            <a:r>
              <a:t>年度目標達成率達95%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017520"/>
            <a:ext cx="182880" cy="182880"/>
          </a:xfrm>
          <a:prstGeom prst="ellipse">
            <a:avLst/>
          </a:prstGeom>
          <a:solidFill>
            <a:srgbClr val="C9A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926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372D"/>
                </a:solidFill>
                <a:latin typeface="Arial"/>
              </a:defRPr>
            </a:pPr>
            <a:r>
              <a:t>服務民眾滿意度提升至92%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657600"/>
            <a:ext cx="182880" cy="182880"/>
          </a:xfrm>
          <a:prstGeom prst="ellipse">
            <a:avLst/>
          </a:prstGeom>
          <a:solidFill>
            <a:srgbClr val="C9A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35661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372D"/>
                </a:solidFill>
                <a:latin typeface="Arial"/>
              </a:defRPr>
            </a:pPr>
            <a:r>
              <a:t>完成3項設施改善工程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297680"/>
            <a:ext cx="182880" cy="182880"/>
          </a:xfrm>
          <a:prstGeom prst="ellipse">
            <a:avLst/>
          </a:prstGeom>
          <a:solidFill>
            <a:srgbClr val="C9A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4206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372D"/>
                </a:solidFill>
                <a:latin typeface="Arial"/>
              </a:defRPr>
            </a:pPr>
            <a:r>
              <a:t>辦理12場教育訓練課程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937760"/>
            <a:ext cx="182880" cy="182880"/>
          </a:xfrm>
          <a:prstGeom prst="ellipse">
            <a:avLst/>
          </a:prstGeom>
          <a:solidFill>
            <a:srgbClr val="C9A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48463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372D"/>
                </a:solidFill>
                <a:latin typeface="Arial"/>
              </a:defRPr>
            </a:pPr>
            <a:r>
              <a:t>建立跨單位協調機制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463040"/>
            <a:ext cx="53035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6459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365D"/>
                </a:solidFill>
                <a:latin typeface="Arial"/>
              </a:defRPr>
            </a:pPr>
            <a:r>
              <a:t>114年度展望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377440"/>
            <a:ext cx="182880" cy="182880"/>
          </a:xfrm>
          <a:prstGeom prst="ellipse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372D"/>
                </a:solidFill>
                <a:latin typeface="Arial"/>
              </a:defRPr>
            </a:pPr>
            <a:r>
              <a:t>持續精進業務效能</a:t>
            </a:r>
          </a:p>
        </p:txBody>
      </p:sp>
      <p:sp>
        <p:nvSpPr>
          <p:cNvPr id="21" name="Oval 20"/>
          <p:cNvSpPr/>
          <p:nvPr/>
        </p:nvSpPr>
        <p:spPr>
          <a:xfrm>
            <a:off x="6492240" y="3017520"/>
            <a:ext cx="182880" cy="182880"/>
          </a:xfrm>
          <a:prstGeom prst="ellipse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2926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372D"/>
                </a:solidFill>
                <a:latin typeface="Arial"/>
              </a:defRPr>
            </a:pPr>
            <a:r>
              <a:t>擴大教育訓練規模</a:t>
            </a:r>
          </a:p>
        </p:txBody>
      </p:sp>
      <p:sp>
        <p:nvSpPr>
          <p:cNvPr id="23" name="Oval 22"/>
          <p:cNvSpPr/>
          <p:nvPr/>
        </p:nvSpPr>
        <p:spPr>
          <a:xfrm>
            <a:off x="6492240" y="3657600"/>
            <a:ext cx="182880" cy="182880"/>
          </a:xfrm>
          <a:prstGeom prst="ellipse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3566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372D"/>
                </a:solidFill>
                <a:latin typeface="Arial"/>
              </a:defRPr>
            </a:pPr>
            <a:r>
              <a:t>推動數位化轉型</a:t>
            </a:r>
          </a:p>
        </p:txBody>
      </p:sp>
      <p:sp>
        <p:nvSpPr>
          <p:cNvPr id="25" name="Oval 24"/>
          <p:cNvSpPr/>
          <p:nvPr/>
        </p:nvSpPr>
        <p:spPr>
          <a:xfrm>
            <a:off x="6492240" y="4297680"/>
            <a:ext cx="182880" cy="182880"/>
          </a:xfrm>
          <a:prstGeom prst="ellipse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4206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372D"/>
                </a:solidFill>
                <a:latin typeface="Arial"/>
              </a:defRPr>
            </a:pPr>
            <a:r>
              <a:t>強化跨單位合作</a:t>
            </a:r>
          </a:p>
        </p:txBody>
      </p:sp>
      <p:sp>
        <p:nvSpPr>
          <p:cNvPr id="27" name="Oval 26"/>
          <p:cNvSpPr/>
          <p:nvPr/>
        </p:nvSpPr>
        <p:spPr>
          <a:xfrm>
            <a:off x="6492240" y="4937760"/>
            <a:ext cx="182880" cy="182880"/>
          </a:xfrm>
          <a:prstGeom prst="ellipse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4846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372D"/>
                </a:solidFill>
                <a:latin typeface="Arial"/>
              </a:defRPr>
            </a:pPr>
            <a:r>
              <a:t>提升民眾服務品質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2B6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3657600" cy="3657600"/>
          </a:xfrm>
          <a:prstGeom prst="ellipse">
            <a:avLst/>
          </a:prstGeom>
          <a:solidFill>
            <a:srgbClr val="C9A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2860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Arial"/>
              </a:defRPr>
            </a:pPr>
            <a:r>
              <a:t>感謝聆聽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6576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9A86C"/>
                </a:solidFill>
                <a:latin typeface="Arial"/>
              </a:defRPr>
            </a:pPr>
            <a:r>
              <a:t>敬請指正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0292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8F4FC"/>
                </a:solidFill>
                <a:latin typeface="Arial"/>
              </a:defRPr>
            </a:pPr>
            <a:r>
              <a:t>○○市政府○○處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6692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8F4FC"/>
                </a:solidFill>
                <a:latin typeface="Arial"/>
              </a:defRPr>
            </a:pPr>
            <a:r>
              <a:t>聯絡電話：02-XXXX-XXXX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