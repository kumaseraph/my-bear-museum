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新北市政府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C107"/>
                </a:solidFill>
              </a:defRPr>
            </a:pPr>
            <a:r>
              <a:t>115年員額評鑑 行前會議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C8C8"/>
                </a:solidFill>
              </a:defRPr>
            </a:pPr>
            <a:r>
              <a:t>體育局及動物保護防疫處 實地評鑑行動藍圖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931920"/>
            <a:ext cx="3657600" cy="50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4572000"/>
            <a:ext cx="2743200" cy="914400"/>
          </a:xfrm>
          <a:prstGeom prst="roundRect">
            <a:avLst/>
          </a:prstGeom>
          <a:solidFill>
            <a:srgbClr val="284682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DCDCDC"/>
                </a:solidFill>
              </a:defRPr>
            </a:pPr>
            <a:r>
              <a:t>📅</a:t>
            </a:r>
            <a:br/>
            <a:r>
              <a:t>115年6月18日（星期四）08:20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4572000"/>
            <a:ext cx="2743200" cy="914400"/>
          </a:xfrm>
          <a:prstGeom prst="roundRect">
            <a:avLst/>
          </a:prstGeom>
          <a:solidFill>
            <a:srgbClr val="284682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DCDCDC"/>
                </a:solidFill>
              </a:defRPr>
            </a:pPr>
            <a:r>
              <a:t>📍</a:t>
            </a:r>
            <a:br/>
            <a:r>
              <a:t>市府行政大樓 27樓東側 2701會議室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4572000"/>
            <a:ext cx="2743200" cy="914400"/>
          </a:xfrm>
          <a:prstGeom prst="roundRect">
            <a:avLst/>
          </a:prstGeom>
          <a:solidFill>
            <a:srgbClr val="284682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DCDCDC"/>
                </a:solidFill>
              </a:defRPr>
            </a:pPr>
            <a:r>
              <a:t>👤</a:t>
            </a:r>
            <a:br/>
            <a:r>
              <a:t>主席：黃德清 參事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評鑑戰略價值鏈：從診斷到控管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2743200" cy="50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4572000"/>
          </a:xfrm>
          <a:prstGeom prst="roundRect">
            <a:avLst/>
          </a:prstGeom>
          <a:solidFill>
            <a:srgbClr val="284682"/>
          </a:solidFill>
          <a:ln w="38100">
            <a:solidFill>
              <a:srgbClr val="00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C8C8"/>
                </a:solidFill>
              </a:defRPr>
            </a:pPr>
            <a:r>
              <a:t>階段一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現狀診斷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DCDC"/>
                </a:solidFill>
              </a:defRPr>
            </a:pPr>
            <a:r>
              <a:t>🔍 實地了解機關各面向運作狀況</a:t>
            </a:r>
            <a:br/>
            <a:r>
              <a:t>🔍 發掘編制與業務之落差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80636251360" y="2286000"/>
            <a:ext cx="457200" cy="365760"/>
          </a:xfrm>
          <a:prstGeom prst="rightArrow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1371600"/>
            <a:ext cx="3474720" cy="4572000"/>
          </a:xfrm>
          <a:prstGeom prst="roundRect">
            <a:avLst/>
          </a:prstGeom>
          <a:solidFill>
            <a:srgbClr val="284682"/>
          </a:solidFill>
          <a:ln w="381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54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C107"/>
                </a:solidFill>
              </a:defRPr>
            </a:pPr>
            <a:r>
              <a:t>階段二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1031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具體改善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92608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DCDC"/>
                </a:solidFill>
              </a:defRPr>
            </a:pPr>
            <a:r>
              <a:t>⚙️ 針對機關內部人力問題</a:t>
            </a:r>
            <a:br/>
            <a:r>
              <a:t>⚙️ 提出具體可執行之改善措施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692371163360" y="2286000"/>
            <a:ext cx="457200" cy="365760"/>
          </a:xfrm>
          <a:prstGeom prst="rightArrow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0" y="1371600"/>
            <a:ext cx="3474720" cy="4572000"/>
          </a:xfrm>
          <a:prstGeom prst="roundRect">
            <a:avLst/>
          </a:prstGeom>
          <a:solidFill>
            <a:srgbClr val="284682"/>
          </a:solidFill>
          <a:ln w="38100">
            <a:solidFill>
              <a:srgbClr val="00F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554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FF64"/>
                </a:solidFill>
              </a:defRPr>
            </a:pPr>
            <a:r>
              <a:t>階段三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1031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戰略目標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92608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DCDC"/>
                </a:solidFill>
              </a:defRPr>
            </a:pPr>
            <a:r>
              <a:t>🎯 作為人力運用控管之核心決策參據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六大評鑑核心維度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2743200" cy="50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C8C8"/>
                </a:solidFill>
              </a:defRPr>
            </a:pPr>
            <a:r>
              <a:t>115年 體育局 / 動保處</a:t>
            </a:r>
          </a:p>
        </p:txBody>
      </p:sp>
      <p:sp>
        <p:nvSpPr>
          <p:cNvPr id="6" name="Oval 5"/>
          <p:cNvSpPr/>
          <p:nvPr/>
        </p:nvSpPr>
        <p:spPr>
          <a:xfrm>
            <a:off x="5120640" y="2926080"/>
            <a:ext cx="1828800" cy="1828800"/>
          </a:xfrm>
          <a:prstGeom prst="ellipse">
            <a:avLst/>
          </a:prstGeom>
          <a:solidFill>
            <a:srgbClr val="284682"/>
          </a:solidFill>
          <a:ln w="381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115年</a:t>
            </a:r>
            <a:br/>
            <a:r>
              <a:t>體育局</a:t>
            </a:r>
            <a:br/>
            <a:r>
              <a:t>動保處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3474720" cy="2286000"/>
          </a:xfrm>
          <a:prstGeom prst="roundRect">
            <a:avLst/>
          </a:prstGeom>
          <a:solidFill>
            <a:srgbClr val="284682"/>
          </a:solidFill>
          <a:ln w="25400">
            <a:solidFill>
              <a:srgbClr val="00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C8C8"/>
                </a:solidFill>
              </a:defRPr>
            </a:pPr>
            <a:r>
              <a:t>組織面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CDCDC"/>
                </a:solidFill>
              </a:defRPr>
            </a:pPr>
            <a:r>
              <a:t>檢視組織架構</a:t>
            </a:r>
            <a:br/>
            <a:r>
              <a:t>與層級合理性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1371600"/>
            <a:ext cx="3474720" cy="2286000"/>
          </a:xfrm>
          <a:prstGeom prst="roundRect">
            <a:avLst/>
          </a:prstGeom>
          <a:solidFill>
            <a:srgbClr val="284682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1645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C107"/>
                </a:solidFill>
              </a:defRPr>
            </a:pPr>
            <a:r>
              <a:t>業務面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2860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CDCDC"/>
                </a:solidFill>
              </a:defRPr>
            </a:pPr>
            <a:r>
              <a:t>盤點核心業務</a:t>
            </a:r>
            <a:br/>
            <a:r>
              <a:t>負擔與資源配置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371600"/>
            <a:ext cx="3474720" cy="2286000"/>
          </a:xfrm>
          <a:prstGeom prst="roundRect">
            <a:avLst/>
          </a:prstGeom>
          <a:solidFill>
            <a:srgbClr val="284682"/>
          </a:solidFill>
          <a:ln w="25400">
            <a:solidFill>
              <a:srgbClr val="00F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1645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FF96"/>
                </a:solidFill>
              </a:defRPr>
            </a:pPr>
            <a:r>
              <a:t>人力面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0" y="22860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CDCDC"/>
                </a:solidFill>
              </a:defRPr>
            </a:pPr>
            <a:r>
              <a:t>評估現有人員</a:t>
            </a:r>
            <a:br/>
            <a:r>
              <a:t>運用效能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389120"/>
            <a:ext cx="3474720" cy="2286000"/>
          </a:xfrm>
          <a:prstGeom prst="roundRect">
            <a:avLst/>
          </a:prstGeom>
          <a:solidFill>
            <a:srgbClr val="284682"/>
          </a:solidFill>
          <a:ln w="25400">
            <a:solidFill>
              <a:srgbClr val="FF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663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6464"/>
                </a:solidFill>
              </a:defRPr>
            </a:pPr>
            <a:r>
              <a:t>財務面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3035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CDCDC"/>
                </a:solidFill>
              </a:defRPr>
            </a:pPr>
            <a:r>
              <a:t>檢驗經費運用</a:t>
            </a:r>
            <a:br/>
            <a:r>
              <a:t>與人力成本效益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0" y="4389120"/>
            <a:ext cx="3474720" cy="2286000"/>
          </a:xfrm>
          <a:prstGeom prst="roundRect">
            <a:avLst/>
          </a:prstGeom>
          <a:solidFill>
            <a:srgbClr val="284682"/>
          </a:solidFill>
          <a:ln w="25400">
            <a:solidFill>
              <a:srgbClr val="9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0" y="4663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696FF"/>
                </a:solidFill>
              </a:defRPr>
            </a:pPr>
            <a:r>
              <a:t>流程面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53035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CDCDC"/>
                </a:solidFill>
              </a:defRPr>
            </a:pPr>
            <a:r>
              <a:t>探討行政效率</a:t>
            </a:r>
            <a:br/>
            <a:r>
              <a:t>與流程簡化空間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4389120"/>
            <a:ext cx="3474720" cy="2286000"/>
          </a:xfrm>
          <a:prstGeom prst="roundRect">
            <a:avLst/>
          </a:prstGeom>
          <a:solidFill>
            <a:srgbClr val="284682"/>
          </a:solidFill>
          <a:ln w="25400">
            <a:solidFill>
              <a:srgbClr val="FF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4663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9600"/>
                </a:solidFill>
              </a:defRPr>
            </a:pPr>
            <a:r>
              <a:t>多元人力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53035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CDCDC"/>
                </a:solidFill>
              </a:defRPr>
            </a:pPr>
            <a:r>
              <a:t>檢視非正式人力</a:t>
            </a:r>
            <a:br/>
            <a:r>
              <a:t>及委外運用狀況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115年 核心評鑑小組陣容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2743200" cy="50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47120" cy="1097280"/>
          </a:xfrm>
          <a:prstGeom prst="roundRect">
            <a:avLst/>
          </a:prstGeom>
          <a:solidFill>
            <a:srgbClr val="3C5A96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107"/>
                </a:solidFill>
              </a:defRPr>
            </a:pPr>
            <a:r>
              <a:t>🏛️ 召集人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黃德清｜新北市政府 參事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43200"/>
            <a:ext cx="5486400" cy="2011680"/>
          </a:xfrm>
          <a:prstGeom prst="roundRect">
            <a:avLst/>
          </a:prstGeom>
          <a:solidFill>
            <a:srgbClr val="284682"/>
          </a:solidFill>
          <a:ln w="25400">
            <a:solidFill>
              <a:srgbClr val="00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8C8"/>
                </a:solidFill>
              </a:defRPr>
            </a:pPr>
            <a:r>
              <a:t>👨‍🏫 專家學者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CDCDC"/>
                </a:solidFill>
              </a:defRPr>
            </a:pPr>
            <a:r>
              <a:t>呂育誠 教授 — 國立臺北大學（全日參與）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3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CDCDC"/>
                </a:solidFill>
              </a:defRPr>
            </a:pPr>
            <a:r>
              <a:t>葉公鼎 教授 — 國立體育大學（上午 體育局）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06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CDCDC"/>
                </a:solidFill>
              </a:defRPr>
            </a:pPr>
            <a:r>
              <a:t>吳宗憲 教授 — 國立臺南大學（下午 動保處）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743200"/>
            <a:ext cx="5486400" cy="2011680"/>
          </a:xfrm>
          <a:prstGeom prst="roundRect">
            <a:avLst/>
          </a:prstGeom>
          <a:solidFill>
            <a:srgbClr val="284682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834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107"/>
                </a:solidFill>
              </a:defRPr>
            </a:pPr>
            <a:r>
              <a:t>👔 府內委員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2004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CDCDC"/>
                </a:solidFill>
              </a:defRPr>
            </a:pPr>
            <a:r>
              <a:t>王世英 — 財政局 專門委員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566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CDCDC"/>
                </a:solidFill>
              </a:defRPr>
            </a:pPr>
            <a:r>
              <a:t>邱淑美 — 主計處 專門委員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9319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CDCDC"/>
                </a:solidFill>
              </a:defRPr>
            </a:pPr>
            <a:r>
              <a:t>王瑞玲 — 研考會 專門委員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2976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CDCDC"/>
                </a:solidFill>
              </a:defRPr>
            </a:pPr>
            <a:r>
              <a:t>洪久雅 — 人事處 副處長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6月18日 行動總覽全景圖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2743200" cy="50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8C8"/>
                </a:solidFill>
              </a:defRPr>
            </a:pPr>
            <a:r>
              <a:t>🌅 體育局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11247120" cy="685800"/>
          </a:xfrm>
          <a:prstGeom prst="roundRect">
            <a:avLst/>
          </a:prstGeom>
          <a:solidFill>
            <a:srgbClr val="284682"/>
          </a:solidFill>
          <a:ln w="12700">
            <a:solidFill>
              <a:srgbClr val="325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C8"/>
                </a:solidFill>
              </a:defRPr>
            </a:pPr>
            <a:r>
              <a:t>08:50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7373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DCDC"/>
                </a:solidFill>
              </a:defRPr>
            </a:pPr>
            <a:r>
              <a:t>B2 司機休息室集合出發（人事處派車）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23160"/>
            <a:ext cx="11247120" cy="685800"/>
          </a:xfrm>
          <a:prstGeom prst="roundRect">
            <a:avLst/>
          </a:prstGeom>
          <a:solidFill>
            <a:srgbClr val="284682"/>
          </a:solidFill>
          <a:ln w="12700">
            <a:solidFill>
              <a:srgbClr val="325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5146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C8"/>
                </a:solidFill>
              </a:defRPr>
            </a:pPr>
            <a:r>
              <a:t>09:00-09:10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514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DCDC"/>
                </a:solidFill>
              </a:defRPr>
            </a:pPr>
            <a:r>
              <a:t>1樓簡報室｜長官致詞與流程說明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200400"/>
            <a:ext cx="11247120" cy="685800"/>
          </a:xfrm>
          <a:prstGeom prst="roundRect">
            <a:avLst/>
          </a:prstGeom>
          <a:solidFill>
            <a:srgbClr val="284682"/>
          </a:solidFill>
          <a:ln w="12700">
            <a:solidFill>
              <a:srgbClr val="325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91839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C8"/>
                </a:solidFill>
              </a:defRPr>
            </a:pPr>
            <a:r>
              <a:t>09:10-09:30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29183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DCDC"/>
                </a:solidFill>
              </a:defRPr>
            </a:pPr>
            <a:r>
              <a:t>業務簡報與座談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77639"/>
            <a:ext cx="11247120" cy="685800"/>
          </a:xfrm>
          <a:prstGeom prst="roundRect">
            <a:avLst/>
          </a:prstGeom>
          <a:solidFill>
            <a:srgbClr val="00B4B4"/>
          </a:solidFill>
          <a:ln w="25400">
            <a:solidFill>
              <a:srgbClr val="00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069079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09:30-11:30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06907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實地個別訪談（分3組進行）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54880"/>
            <a:ext cx="11247120" cy="685800"/>
          </a:xfrm>
          <a:prstGeom prst="roundRect">
            <a:avLst/>
          </a:prstGeom>
          <a:solidFill>
            <a:srgbClr val="284682"/>
          </a:solidFill>
          <a:ln w="12700">
            <a:solidFill>
              <a:srgbClr val="325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8463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C8"/>
                </a:solidFill>
              </a:defRPr>
            </a:pPr>
            <a:r>
              <a:t>11:30-12:00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4846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DCDC"/>
                </a:solidFill>
              </a:defRPr>
            </a:pPr>
            <a:r>
              <a:t>相互學習與結語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669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107"/>
                </a:solidFill>
              </a:defRPr>
            </a:pPr>
            <a:r>
              <a:t>🌆 動保處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6035040"/>
            <a:ext cx="11247120" cy="137160"/>
          </a:xfrm>
          <a:prstGeom prst="round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7200" y="6199631"/>
            <a:ext cx="11247120" cy="137160"/>
          </a:xfrm>
          <a:prstGeom prst="round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7200" y="6364224"/>
            <a:ext cx="11247120" cy="137160"/>
          </a:xfrm>
          <a:prstGeom prst="round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7200" y="6528816"/>
            <a:ext cx="11247120" cy="137160"/>
          </a:xfrm>
          <a:prstGeom prst="roundRect">
            <a:avLst/>
          </a:prstGeom>
          <a:solidFill>
            <a:srgbClr val="FF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7200" y="6693407"/>
            <a:ext cx="11247120" cy="137160"/>
          </a:xfrm>
          <a:prstGeom prst="round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委員任務部署矩陣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2743200" cy="50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DCDC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11480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C8C8"/>
                </a:solidFill>
              </a:defRPr>
            </a:pPr>
            <a:r>
              <a:t>☀️ AM（體育局）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1887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C107"/>
                </a:solidFill>
              </a:defRPr>
            </a:pPr>
            <a:r>
              <a:t>🌙 PM（動保處）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3657600" cy="1463040"/>
          </a:xfrm>
          <a:prstGeom prst="roundRect">
            <a:avLst/>
          </a:prstGeom>
          <a:solidFill>
            <a:srgbClr val="284682"/>
          </a:solidFill>
          <a:ln w="25400">
            <a:solidFill>
              <a:srgbClr val="00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C8C8"/>
                </a:solidFill>
              </a:defRPr>
            </a:pPr>
            <a:r>
              <a:t>第1組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1828800"/>
            <a:ext cx="3657600" cy="1463040"/>
          </a:xfrm>
          <a:prstGeom prst="roundRect">
            <a:avLst/>
          </a:prstGeom>
          <a:solidFill>
            <a:srgbClr val="284682"/>
          </a:solidFill>
          <a:ln w="12700">
            <a:solidFill>
              <a:srgbClr val="00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2011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DCDC"/>
                </a:solidFill>
              </a:defRPr>
            </a:pPr>
            <a:r>
              <a:t>組長：呂育誠 教授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468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DCDC"/>
                </a:solidFill>
              </a:defRPr>
            </a:pPr>
            <a:r>
              <a:t>委員：王世英 專委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926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DCDC"/>
                </a:solidFill>
              </a:defRPr>
            </a:pPr>
            <a:r>
              <a:t>小組：唐薇窕 科長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1828800"/>
            <a:ext cx="3931920" cy="1463040"/>
          </a:xfrm>
          <a:prstGeom prst="roundRect">
            <a:avLst/>
          </a:prstGeom>
          <a:solidFill>
            <a:srgbClr val="284682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DCDC"/>
                </a:solidFill>
              </a:defRPr>
            </a:pPr>
            <a:r>
              <a:t>組長：呂育誠 教授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468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DCDC"/>
                </a:solidFill>
              </a:defRPr>
            </a:pPr>
            <a:r>
              <a:t>委員：王世英 專委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926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DCDC"/>
                </a:solidFill>
              </a:defRPr>
            </a:pPr>
            <a:r>
              <a:t>小組：蔡孟倫 股長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474720"/>
            <a:ext cx="3657600" cy="1463040"/>
          </a:xfrm>
          <a:prstGeom prst="roundRect">
            <a:avLst/>
          </a:prstGeom>
          <a:solidFill>
            <a:srgbClr val="284682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9319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C107"/>
                </a:solidFill>
              </a:defRPr>
            </a:pPr>
            <a:r>
              <a:t>第2組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0" y="3474720"/>
            <a:ext cx="3657600" cy="1463040"/>
          </a:xfrm>
          <a:prstGeom prst="roundRect">
            <a:avLst/>
          </a:prstGeom>
          <a:solidFill>
            <a:srgbClr val="284682"/>
          </a:solidFill>
          <a:ln w="12700">
            <a:solidFill>
              <a:srgbClr val="00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3657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DCDC"/>
                </a:solidFill>
              </a:defRPr>
            </a:pPr>
            <a:r>
              <a:t>組長：葉公鼎 教授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114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DCDC"/>
                </a:solidFill>
              </a:defRPr>
            </a:pPr>
            <a:r>
              <a:t>委員：邱淑美 專委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5720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DCDC"/>
                </a:solidFill>
              </a:defRPr>
            </a:pPr>
            <a:r>
              <a:t>小組：葉孟倫 股長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3474720"/>
            <a:ext cx="3931920" cy="1463040"/>
          </a:xfrm>
          <a:prstGeom prst="roundRect">
            <a:avLst/>
          </a:prstGeom>
          <a:solidFill>
            <a:srgbClr val="284682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79" y="3657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DCDC"/>
                </a:solidFill>
              </a:defRPr>
            </a:pPr>
            <a:r>
              <a:t>組長：吳宗憲 教授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4114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DCDC"/>
                </a:solidFill>
              </a:defRPr>
            </a:pPr>
            <a:r>
              <a:t>委員：邱淑美 專委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4572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DCDC"/>
                </a:solidFill>
              </a:defRPr>
            </a:pPr>
            <a:r>
              <a:t>小組：陳琳蒂 股長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120640"/>
            <a:ext cx="3657600" cy="1463040"/>
          </a:xfrm>
          <a:prstGeom prst="roundRect">
            <a:avLst/>
          </a:prstGeom>
          <a:solidFill>
            <a:srgbClr val="284682"/>
          </a:solidFill>
          <a:ln w="25400">
            <a:solidFill>
              <a:srgbClr val="00F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5778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FF96"/>
                </a:solidFill>
              </a:defRPr>
            </a:pPr>
            <a:r>
              <a:t>第3組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0" y="5120640"/>
            <a:ext cx="3657600" cy="1463040"/>
          </a:xfrm>
          <a:prstGeom prst="roundRect">
            <a:avLst/>
          </a:prstGeom>
          <a:solidFill>
            <a:srgbClr val="284682"/>
          </a:solidFill>
          <a:ln w="12700">
            <a:solidFill>
              <a:srgbClr val="00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0" y="53035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DCDC"/>
                </a:solidFill>
              </a:defRPr>
            </a:pPr>
            <a:r>
              <a:t>組長：洪久雅 副處長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5760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DCDC"/>
                </a:solidFill>
              </a:defRPr>
            </a:pPr>
            <a:r>
              <a:t>委員：王瑞玲 專委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6217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DCDC"/>
                </a:solidFill>
              </a:defRPr>
            </a:pPr>
            <a:r>
              <a:t>小組：洪舒菁 科員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0" y="5120640"/>
            <a:ext cx="3931920" cy="1463040"/>
          </a:xfrm>
          <a:prstGeom prst="roundRect">
            <a:avLst/>
          </a:prstGeom>
          <a:solidFill>
            <a:srgbClr val="284682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79" y="5303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DCDC"/>
                </a:solidFill>
              </a:defRPr>
            </a:pPr>
            <a:r>
              <a:t>組長：洪久雅 副處長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5760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DCDC"/>
                </a:solidFill>
              </a:defRPr>
            </a:pPr>
            <a:r>
              <a:t>委員：王瑞玲 專委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6217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DCDC"/>
                </a:solidFill>
              </a:defRPr>
            </a:pPr>
            <a:r>
              <a:t>小組：馮于宣 科員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實地訪談取樣法則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2743200" cy="50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rapezoid 4"/>
          <p:cNvSpPr/>
          <p:nvPr/>
        </p:nvSpPr>
        <p:spPr>
          <a:xfrm>
            <a:off x="1463040" y="1371600"/>
            <a:ext cx="9144000" cy="1097280"/>
          </a:xfrm>
          <a:prstGeom prst="trapezoid">
            <a:avLst/>
          </a:prstGeom>
          <a:solidFill>
            <a:srgbClr val="284682"/>
          </a:solidFill>
          <a:ln w="25400">
            <a:solidFill>
              <a:srgbClr val="00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554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C8C8"/>
                </a:solidFill>
              </a:defRPr>
            </a:pPr>
            <a:r>
              <a:t>Pool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920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CDCDC"/>
                </a:solidFill>
              </a:defRPr>
            </a:pPr>
            <a:r>
              <a:t>受評機關全體員工</a:t>
            </a:r>
          </a:p>
        </p:txBody>
      </p:sp>
      <p:sp>
        <p:nvSpPr>
          <p:cNvPr id="8" name="Trapezoid 7"/>
          <p:cNvSpPr/>
          <p:nvPr/>
        </p:nvSpPr>
        <p:spPr>
          <a:xfrm>
            <a:off x="2377440" y="2743200"/>
            <a:ext cx="7315200" cy="1097280"/>
          </a:xfrm>
          <a:prstGeom prst="trapezoid">
            <a:avLst/>
          </a:prstGeom>
          <a:solidFill>
            <a:srgbClr val="284682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2926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C107"/>
                </a:solidFill>
              </a:defRPr>
            </a:pPr>
            <a:r>
              <a:t>Filters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3291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CDCDC"/>
                </a:solidFill>
              </a:defRPr>
            </a:pPr>
            <a:r>
              <a:t>辦理核心業務 + 年資滿3年以上</a:t>
            </a:r>
          </a:p>
        </p:txBody>
      </p:sp>
      <p:sp>
        <p:nvSpPr>
          <p:cNvPr id="11" name="Trapezoid 10"/>
          <p:cNvSpPr/>
          <p:nvPr/>
        </p:nvSpPr>
        <p:spPr>
          <a:xfrm>
            <a:off x="3291840" y="4114800"/>
            <a:ext cx="5486400" cy="1097280"/>
          </a:xfrm>
          <a:prstGeom prst="trapezoid">
            <a:avLst/>
          </a:prstGeom>
          <a:solidFill>
            <a:srgbClr val="284682"/>
          </a:solidFill>
          <a:ln w="25400">
            <a:solidFill>
              <a:srgbClr val="00F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4297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FF96"/>
                </a:solidFill>
              </a:defRPr>
            </a:pPr>
            <a: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4663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CDCDC"/>
                </a:solidFill>
              </a:defRPr>
            </a:pPr>
            <a:r>
              <a:t>每組 7-8 位員工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107"/>
                </a:solidFill>
              </a:defRPr>
            </a:pPr>
            <a:r>
              <a:t>執行參數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760720"/>
            <a:ext cx="3657600" cy="914400"/>
          </a:xfrm>
          <a:prstGeom prst="roundRect">
            <a:avLst/>
          </a:prstGeom>
          <a:solidFill>
            <a:srgbClr val="284682"/>
          </a:solidFill>
          <a:ln w="12700">
            <a:solidFill>
              <a:srgbClr val="00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8521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CDCDC"/>
                </a:solidFill>
              </a:defRPr>
            </a:pPr>
            <a:r>
              <a:t>⏱️ 節奏 每人 15 分鐘為原則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5760720"/>
            <a:ext cx="3657600" cy="914400"/>
          </a:xfrm>
          <a:prstGeom prst="roundRect">
            <a:avLst/>
          </a:prstGeom>
          <a:solidFill>
            <a:srgbClr val="284682"/>
          </a:solidFill>
          <a:ln w="12700">
            <a:solidFill>
              <a:srgbClr val="00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58521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CDCDC"/>
                </a:solidFill>
              </a:defRPr>
            </a:pPr>
            <a:r>
              <a:t>📋 工具 依據受評報告及人事處參考題目發問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5760720"/>
            <a:ext cx="3657600" cy="914400"/>
          </a:xfrm>
          <a:prstGeom prst="roundRect">
            <a:avLst/>
          </a:prstGeom>
          <a:solidFill>
            <a:srgbClr val="284682"/>
          </a:solidFill>
          <a:ln w="12700">
            <a:solidFill>
              <a:srgbClr val="00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58521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CDCDC"/>
                </a:solidFill>
              </a:defRPr>
            </a:pPr>
            <a:r>
              <a:t>⏰ 控管 由組長嚴格掌握時間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從洞察到決策：知識提煉閉環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2743200" cy="50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657600" cy="1828800"/>
          </a:xfrm>
          <a:prstGeom prst="roundRect">
            <a:avLst/>
          </a:prstGeom>
          <a:solidFill>
            <a:srgbClr val="284682"/>
          </a:solidFill>
          <a:ln w="25400">
            <a:solidFill>
              <a:srgbClr val="00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C8C8"/>
                </a:solidFill>
              </a:defRPr>
            </a:pPr>
            <a:r>
              <a:t>受評機關書面報告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DCDC"/>
                </a:solidFill>
              </a:defRPr>
            </a:pPr>
            <a:r>
              <a:t>預計5月上旬提供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657600" cy="1828800"/>
          </a:xfrm>
          <a:prstGeom prst="roundRect">
            <a:avLst/>
          </a:prstGeom>
          <a:solidFill>
            <a:srgbClr val="284682"/>
          </a:solidFill>
          <a:ln w="25400">
            <a:solidFill>
              <a:srgbClr val="00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463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103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C8C8"/>
                </a:solidFill>
              </a:defRPr>
            </a:pPr>
            <a:r>
              <a:t>業務簡報當下發現之疑義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651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DCDC"/>
                </a:solidFill>
              </a:defRPr>
            </a:pPr>
            <a:r>
              <a:t>隨時提問並作筆記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71600"/>
            <a:ext cx="3657600" cy="1828800"/>
          </a:xfrm>
          <a:prstGeom prst="roundRect">
            <a:avLst/>
          </a:prstGeom>
          <a:solidFill>
            <a:srgbClr val="284682"/>
          </a:solidFill>
          <a:ln w="25400">
            <a:solidFill>
              <a:srgbClr val="00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463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103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C8C8"/>
                </a:solidFill>
              </a:defRPr>
            </a:pPr>
            <a:r>
              <a:t>15分鐘深度個別訪談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651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CDCDC"/>
                </a:solidFill>
              </a:defRPr>
            </a:pPr>
            <a:r>
              <a:t>摘要記錄真實回饋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0" y="3657600"/>
            <a:ext cx="3017520" cy="1371600"/>
          </a:xfrm>
          <a:prstGeom prst="ellipse">
            <a:avLst/>
          </a:prstGeom>
          <a:solidFill>
            <a:srgbClr val="3C5A96"/>
          </a:solidFill>
          <a:ln w="381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40233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⚙️ 統整六大維度發現</a:t>
            </a:r>
            <a:br/>
            <a:r>
              <a:t>與受評機關代表</a:t>
            </a:r>
            <a:br/>
            <a:r>
              <a:t>進行最終意見交流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0" y="5303520"/>
            <a:ext cx="3931920" cy="109728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0" y="548640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3366"/>
                </a:solidFill>
              </a:defRPr>
            </a:pPr>
            <a:r>
              <a:t>📋 員額評鑑意見表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943600" y="5029200"/>
            <a:ext cx="274320" cy="457200"/>
          </a:xfrm>
          <a:prstGeom prst="downArrow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關鍵行動清單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2743200" cy="50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743200" cy="548640"/>
          </a:xfrm>
          <a:prstGeom prst="roundRect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3366"/>
                </a:solidFill>
              </a:defRPr>
            </a:pPr>
            <a:r>
              <a:t>📝 5月11日（一）前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1005840"/>
          </a:xfrm>
          <a:prstGeom prst="roundRect">
            <a:avLst/>
          </a:prstGeom>
          <a:solidFill>
            <a:srgbClr val="284682"/>
          </a:solidFill>
          <a:ln w="25400">
            <a:solidFill>
              <a:srgbClr val="00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8C8"/>
                </a:solidFill>
              </a:defRPr>
            </a:pPr>
            <a:r>
              <a:t>行程與名單修正建議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CDCDC"/>
                </a:solidFill>
              </a:defRPr>
            </a:pPr>
            <a:r>
              <a:t>若對行程表或訪談分組有任何建議，請於此日期前回覆人事處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00400"/>
            <a:ext cx="2743200" cy="54864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291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3366"/>
                </a:solidFill>
              </a:defRPr>
            </a:pPr>
            <a:r>
              <a:t>📋 6月18日（四）評鑑當日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11247120" cy="1005840"/>
          </a:xfrm>
          <a:prstGeom prst="roundRect">
            <a:avLst/>
          </a:prstGeom>
          <a:solidFill>
            <a:srgbClr val="284682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107"/>
                </a:solidFill>
              </a:defRPr>
            </a:pPr>
            <a:r>
              <a:t>攜帶紙本資料與會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891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CDCDC"/>
                </a:solidFill>
              </a:defRPr>
            </a:pPr>
            <a:r>
              <a:t>請自行攜帶會議資料及受評機關書面報告，會議現場不另發紙本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029200"/>
            <a:ext cx="2743200" cy="548640"/>
          </a:xfrm>
          <a:prstGeom prst="roundRect">
            <a:avLst/>
          </a:prstGeom>
          <a:solidFill>
            <a:srgbClr val="00F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120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3366"/>
                </a:solidFill>
              </a:defRPr>
            </a:pPr>
            <a:r>
              <a:t>📧 6月25日（五）前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669280"/>
            <a:ext cx="11247120" cy="1005840"/>
          </a:xfrm>
          <a:prstGeom prst="roundRect">
            <a:avLst/>
          </a:prstGeom>
          <a:solidFill>
            <a:srgbClr val="284682"/>
          </a:solidFill>
          <a:ln w="25400">
            <a:solidFill>
              <a:srgbClr val="00FF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FF96"/>
                </a:solidFill>
              </a:defRPr>
            </a:pPr>
            <a:r>
              <a:t>繳交最終意見表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2179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CDCDC"/>
                </a:solidFill>
              </a:defRPr>
            </a:pPr>
            <a:r>
              <a:t>完成「員額評鑑意見表」填寫，並擲送人事處人力科蔡孟倫股長（AN2585@ntpc.gov.tw）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相互學習與討論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926080"/>
            <a:ext cx="3657600" cy="50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C8C8"/>
                </a:solidFill>
              </a:defRPr>
            </a:pPr>
            <a:r>
              <a:t>針對評鑑內容、行程安排及相關事項交流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114800"/>
            <a:ext cx="8503920" cy="1371600"/>
          </a:xfrm>
          <a:prstGeom prst="roundRect">
            <a:avLst/>
          </a:prstGeom>
          <a:solidFill>
            <a:srgbClr val="284682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4297680"/>
            <a:ext cx="8503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C107"/>
                </a:solidFill>
              </a:defRPr>
            </a:pPr>
            <a:r>
              <a:t>🎯 精準除錯</a:t>
            </a:r>
            <a:br/>
            <a:r>
              <a:t>共同優化新北市政府人力結構與效能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