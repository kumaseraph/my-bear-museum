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97280" y="914400"/>
            <a:ext cx="0" cy="5029200"/>
          </a:xfrm>
          <a:prstGeom prst="line">
            <a:avLst/>
          </a:prstGeom>
          <a:ln w="25400">
            <a:solidFill>
              <a:srgbClr val="C9A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8288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765C"/>
                </a:solidFill>
              </a:defRPr>
            </a:pPr>
            <a:r>
              <a:t>新北市政府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5C403A"/>
                </a:solidFill>
              </a:defRPr>
            </a:pPr>
            <a:r>
              <a:t>115年</a:t>
            </a:r>
            <a:br/>
            <a:r>
              <a:t>員額評鑑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A322C"/>
                </a:solidFill>
              </a:defRPr>
            </a:pPr>
            <a:r>
              <a:t>行前會議簡報</a:t>
            </a:r>
          </a:p>
        </p:txBody>
      </p:sp>
      <p:sp>
        <p:nvSpPr>
          <p:cNvPr id="7" name="Oval 6"/>
          <p:cNvSpPr/>
          <p:nvPr/>
        </p:nvSpPr>
        <p:spPr>
          <a:xfrm>
            <a:off x="10058400" y="1371600"/>
            <a:ext cx="137160" cy="137160"/>
          </a:xfrm>
          <a:prstGeom prst="ellipse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0" y="1737360"/>
            <a:ext cx="137160" cy="137160"/>
          </a:xfrm>
          <a:prstGeom prst="ellipse">
            <a:avLst/>
          </a:prstGeom>
          <a:solidFill>
            <a:srgbClr val="E8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0" y="2103120"/>
            <a:ext cx="137160" cy="137160"/>
          </a:xfrm>
          <a:prstGeom prst="ellipse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0" y="2468880"/>
            <a:ext cx="137160" cy="137160"/>
          </a:xfrm>
          <a:prstGeom prst="ellipse">
            <a:avLst/>
          </a:prstGeom>
          <a:solidFill>
            <a:srgbClr val="E8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0" y="2834640"/>
            <a:ext cx="137160" cy="137160"/>
          </a:xfrm>
          <a:prstGeom prst="ellipse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828800" y="5943600"/>
            <a:ext cx="8229600" cy="0"/>
          </a:xfrm>
          <a:prstGeom prst="line">
            <a:avLst/>
          </a:prstGeom>
          <a:ln w="19050">
            <a:solidFill>
              <a:srgbClr val="C9A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C403A"/>
                </a:solidFill>
              </a:defRPr>
            </a:pPr>
            <a:r>
              <a:t>會議議程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3657600"/>
            <a:ext cx="9144000" cy="0"/>
          </a:xfrm>
          <a:prstGeom prst="line">
            <a:avLst/>
          </a:prstGeom>
          <a:ln w="50800">
            <a:solidFill>
              <a:srgbClr val="E8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645920" y="3429000"/>
            <a:ext cx="457200" cy="457200"/>
          </a:xfrm>
          <a:prstGeom prst="ellipse">
            <a:avLst/>
          </a:prstGeom>
          <a:solidFill>
            <a:srgbClr val="B8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19072" y="35478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8F0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C403A"/>
                </a:solidFill>
              </a:defRPr>
            </a:pPr>
            <a:r>
              <a:t>報告事項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A322C"/>
                </a:solidFill>
              </a:defRPr>
            </a:pPr>
            <a:r>
              <a:t>業務推動情形</a:t>
            </a:r>
          </a:p>
        </p:txBody>
      </p:sp>
      <p:sp>
        <p:nvSpPr>
          <p:cNvPr id="9" name="Oval 8"/>
          <p:cNvSpPr/>
          <p:nvPr/>
        </p:nvSpPr>
        <p:spPr>
          <a:xfrm>
            <a:off x="3931920" y="3429000"/>
            <a:ext cx="457200" cy="457200"/>
          </a:xfrm>
          <a:prstGeom prst="ellipse">
            <a:avLst/>
          </a:prstGeom>
          <a:solidFill>
            <a:srgbClr val="B8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5072" y="35478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8F0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60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C403A"/>
                </a:solidFill>
              </a:defRPr>
            </a:pPr>
            <a:r>
              <a:t>工作檢核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A322C"/>
                </a:solidFill>
              </a:defRPr>
            </a:pPr>
            <a:r>
              <a:t>管考系統檢視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3429000"/>
            <a:ext cx="457200" cy="457200"/>
          </a:xfrm>
          <a:prstGeom prst="ellipse">
            <a:avLst/>
          </a:prstGeom>
          <a:solidFill>
            <a:srgbClr val="B8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35478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8F0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560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C403A"/>
                </a:solidFill>
              </a:defRPr>
            </a:pPr>
            <a:r>
              <a:t>專案報告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A322C"/>
                </a:solidFill>
              </a:defRPr>
            </a:pPr>
            <a:r>
              <a:t>執行成效報告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0" y="3429000"/>
            <a:ext cx="457200" cy="457200"/>
          </a:xfrm>
          <a:prstGeom prst="ellipse">
            <a:avLst/>
          </a:prstGeom>
          <a:solidFill>
            <a:srgbClr val="B8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35478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8F0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560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C403A"/>
                </a:solidFill>
              </a:defRPr>
            </a:pPr>
            <a:r>
              <a:t>臨時動議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972800" y="914400"/>
            <a:ext cx="0" cy="4572000"/>
          </a:xfrm>
          <a:prstGeom prst="line">
            <a:avLst/>
          </a:prstGeom>
          <a:ln w="25400">
            <a:solidFill>
              <a:srgbClr val="C9A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8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C403A"/>
                </a:solidFill>
              </a:defRPr>
            </a:pPr>
            <a:r>
              <a:t>報告事項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3657600"/>
          </a:xfrm>
          <a:prstGeom prst="roundRect">
            <a:avLst>
              <a:gd name="adj" fmla="val 15000"/>
            </a:avLst>
          </a:prstGeom>
          <a:solidFill>
            <a:srgbClr val="F5F0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3200400" cy="731520"/>
          </a:xfrm>
          <a:prstGeom prst="rect">
            <a:avLst/>
          </a:prstGeom>
          <a:solidFill>
            <a:srgbClr val="B8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8F0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8F0"/>
                </a:solidFill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C403A"/>
                </a:solidFill>
              </a:defRPr>
            </a:pPr>
            <a:r>
              <a:t>業務推動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88720" y="3657600"/>
            <a:ext cx="2651760" cy="0"/>
          </a:xfrm>
          <a:prstGeom prst="line">
            <a:avLst/>
          </a:prstGeom>
          <a:ln w="12700">
            <a:solidFill>
              <a:srgbClr val="C9A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8872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22C"/>
                </a:solidFill>
              </a:defRPr>
            </a:pPr>
            <a:r>
              <a:t>依計畫時程執行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765C"/>
                </a:solidFill>
              </a:defRPr>
            </a:pPr>
            <a:r>
              <a:t>如期進行中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0" y="5029200"/>
            <a:ext cx="137160" cy="137160"/>
          </a:xfrm>
          <a:prstGeom prst="ellipse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1828800"/>
            <a:ext cx="3200400" cy="3657600"/>
          </a:xfrm>
          <a:prstGeom prst="roundRect">
            <a:avLst>
              <a:gd name="adj" fmla="val 15000"/>
            </a:avLst>
          </a:prstGeom>
          <a:solidFill>
            <a:srgbClr val="F5F0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828800"/>
            <a:ext cx="3200400" cy="731520"/>
          </a:xfrm>
          <a:prstGeom prst="rect">
            <a:avLst/>
          </a:prstGeom>
          <a:solidFill>
            <a:srgbClr val="B8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8F0"/>
                </a:solidFill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03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8F0"/>
                </a:solidFill>
              </a:defRPr>
            </a:pPr>
            <a: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C403A"/>
                </a:solidFill>
              </a:defRPr>
            </a:pPr>
            <a:r>
              <a:t>成果展現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6320" y="3657600"/>
            <a:ext cx="2651760" cy="0"/>
          </a:xfrm>
          <a:prstGeom prst="line">
            <a:avLst/>
          </a:prstGeom>
          <a:ln w="12700">
            <a:solidFill>
              <a:srgbClr val="C9A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4632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22C"/>
                </a:solidFill>
              </a:defRPr>
            </a:pPr>
            <a:r>
              <a:t>重要成果累積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765C"/>
                </a:solidFill>
              </a:defRPr>
            </a:pPr>
            <a:r>
              <a:t>持續優化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0" y="5029200"/>
            <a:ext cx="137160" cy="137160"/>
          </a:xfrm>
          <a:prstGeom prst="ellipse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1828800"/>
            <a:ext cx="3200400" cy="3657600"/>
          </a:xfrm>
          <a:prstGeom prst="roundRect">
            <a:avLst>
              <a:gd name="adj" fmla="val 15000"/>
            </a:avLst>
          </a:prstGeom>
          <a:solidFill>
            <a:srgbClr val="F5F0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828800"/>
            <a:ext cx="3200400" cy="731520"/>
          </a:xfrm>
          <a:prstGeom prst="rect">
            <a:avLst/>
          </a:prstGeom>
          <a:solidFill>
            <a:srgbClr val="B8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8F0"/>
                </a:solidFill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103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8F0"/>
                </a:solidFill>
              </a:defRPr>
            </a:pPr>
            <a:r>
              <a:t>STEP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C403A"/>
                </a:solidFill>
              </a:defRPr>
            </a:pPr>
            <a:r>
              <a:t>管考追蹤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03920" y="3657600"/>
            <a:ext cx="2651760" cy="0"/>
          </a:xfrm>
          <a:prstGeom prst="line">
            <a:avLst/>
          </a:prstGeom>
          <a:ln w="12700">
            <a:solidFill>
              <a:srgbClr val="C9A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0392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22C"/>
                </a:solidFill>
              </a:defRPr>
            </a:pPr>
            <a:r>
              <a:t>按月檢視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765C"/>
                </a:solidFill>
              </a:defRPr>
            </a:pPr>
            <a:r>
              <a:t>落後管催</a:t>
            </a:r>
          </a:p>
        </p:txBody>
      </p:sp>
      <p:sp>
        <p:nvSpPr>
          <p:cNvPr id="31" name="Oval 30"/>
          <p:cNvSpPr/>
          <p:nvPr/>
        </p:nvSpPr>
        <p:spPr>
          <a:xfrm>
            <a:off x="9601200" y="5029200"/>
            <a:ext cx="137160" cy="137160"/>
          </a:xfrm>
          <a:prstGeom prst="ellipse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E8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C403A"/>
                </a:solidFill>
              </a:defRPr>
            </a:pPr>
            <a:r>
              <a:t>執行</a:t>
            </a:r>
            <a:br/>
            <a:r>
              <a:t>成效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2103120"/>
            <a:ext cx="2286000" cy="0"/>
          </a:xfrm>
          <a:prstGeom prst="line">
            <a:avLst/>
          </a:prstGeom>
          <a:ln w="25400">
            <a:solidFill>
              <a:srgbClr val="C9A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23774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22C"/>
                </a:solidFill>
              </a:defRPr>
            </a:pPr>
            <a:r>
              <a:t>依管考系統</a:t>
            </a:r>
            <a:br/>
            <a:r>
              <a:t>列管案件</a:t>
            </a:r>
            <a:br/>
            <a:r>
              <a:t>逐月追蹤</a:t>
            </a:r>
            <a:br/>
            <a:r>
              <a:t>執行進度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1371600"/>
            <a:ext cx="3657600" cy="3657600"/>
          </a:xfrm>
          <a:prstGeom prst="ellipse">
            <a:avLst/>
          </a:prstGeom>
          <a:solidFill>
            <a:srgbClr val="E8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03520" y="1645920"/>
            <a:ext cx="3108960" cy="3108960"/>
          </a:xfrm>
          <a:prstGeom prst="ellipse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77840" y="1920240"/>
            <a:ext cx="2560320" cy="2560320"/>
          </a:xfrm>
          <a:prstGeom prst="ellipse">
            <a:avLst/>
          </a:prstGeom>
          <a:solidFill>
            <a:srgbClr val="B8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0" y="2286000"/>
            <a:ext cx="1828800" cy="1828800"/>
          </a:xfrm>
          <a:prstGeom prst="ellipse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5603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5C403A"/>
                </a:solidFill>
              </a:defRPr>
            </a:pPr>
            <a:r>
              <a:t>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291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A322C"/>
                </a:solidFill>
              </a:defRPr>
            </a:pPr>
            <a:r>
              <a:t>達成率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097280"/>
            <a:ext cx="2560320" cy="1097280"/>
          </a:xfrm>
          <a:prstGeom prst="roundRect">
            <a:avLst>
              <a:gd name="adj" fmla="val 15000"/>
            </a:avLst>
          </a:prstGeom>
          <a:solidFill>
            <a:srgbClr val="F5F0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2344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C403A"/>
                </a:solidFill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A322C"/>
                </a:solidFill>
              </a:defRPr>
            </a:pPr>
            <a:r>
              <a:t>管考案件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765C"/>
                </a:solidFill>
              </a:defRPr>
            </a:pPr>
            <a:r>
              <a:t>+3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468880"/>
            <a:ext cx="2560320" cy="1097280"/>
          </a:xfrm>
          <a:prstGeom prst="roundRect">
            <a:avLst>
              <a:gd name="adj" fmla="val 15000"/>
            </a:avLst>
          </a:prstGeom>
          <a:solidFill>
            <a:srgbClr val="F5F0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6060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C403A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A322C"/>
                </a:solidFill>
              </a:defRPr>
            </a:pPr>
            <a:r>
              <a:t>已完成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765C"/>
                </a:solidFill>
              </a:defRPr>
            </a:pPr>
            <a:r>
              <a:t>6件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3840480"/>
            <a:ext cx="2560320" cy="1097280"/>
          </a:xfrm>
          <a:prstGeom prst="roundRect">
            <a:avLst>
              <a:gd name="adj" fmla="val 15000"/>
            </a:avLst>
          </a:prstGeom>
          <a:solidFill>
            <a:srgbClr val="F5F0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39776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C403A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4023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A322C"/>
                </a:solidFill>
              </a:defRPr>
            </a:pPr>
            <a:r>
              <a:t>執行中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765C"/>
                </a:solidFill>
              </a:defRPr>
            </a:pPr>
            <a:r>
              <a:t>2件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8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C403A"/>
                </a:solidFill>
              </a:defRPr>
            </a:pPr>
            <a:r>
              <a:t>工作檢核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B8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4813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8F0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C403A"/>
                </a:solidFill>
              </a:defRPr>
            </a:pPr>
            <a:r>
              <a:t>每月管考會議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371600"/>
            <a:ext cx="1280160" cy="457200"/>
          </a:xfrm>
          <a:prstGeom prst="roundRect">
            <a:avLst>
              <a:gd name="adj" fmla="val 15000"/>
            </a:avLst>
          </a:prstGeom>
          <a:solidFill>
            <a:srgbClr val="B876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4447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8F0"/>
                </a:solidFill>
              </a:defRPr>
            </a:pPr>
            <a:r>
              <a:t>已完成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22C"/>
                </a:solidFill>
              </a:defRPr>
            </a:pPr>
            <a:r>
              <a:t>按時召開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2194560"/>
            <a:ext cx="10332720" cy="0"/>
          </a:xfrm>
          <a:prstGeom prst="line">
            <a:avLst/>
          </a:prstGeom>
          <a:ln w="12700">
            <a:solidFill>
              <a:srgbClr val="E8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14400" y="2560320"/>
            <a:ext cx="548640" cy="548640"/>
          </a:xfrm>
          <a:prstGeom prst="ellipse">
            <a:avLst/>
          </a:prstGeom>
          <a:solidFill>
            <a:srgbClr val="B8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6700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8F0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C403A"/>
                </a:solidFill>
              </a:defRPr>
            </a:pPr>
            <a:r>
              <a:t>落後案件追蹤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560320"/>
            <a:ext cx="1280160" cy="457200"/>
          </a:xfrm>
          <a:prstGeom prst="roundRect">
            <a:avLst>
              <a:gd name="adj" fmla="val 15000"/>
            </a:avLst>
          </a:prstGeom>
          <a:solidFill>
            <a:srgbClr val="C9A8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6334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8F0"/>
                </a:solidFill>
              </a:defRPr>
            </a:pPr>
            <a:r>
              <a:t>進行中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22C"/>
                </a:solidFill>
              </a:defRPr>
            </a:pPr>
            <a:r>
              <a:t>持續管催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3383280"/>
            <a:ext cx="10332720" cy="0"/>
          </a:xfrm>
          <a:prstGeom prst="line">
            <a:avLst/>
          </a:prstGeom>
          <a:ln w="12700">
            <a:solidFill>
              <a:srgbClr val="E8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14400" y="3749039"/>
            <a:ext cx="548640" cy="548640"/>
          </a:xfrm>
          <a:prstGeom prst="ellipse">
            <a:avLst/>
          </a:prstGeom>
          <a:solidFill>
            <a:srgbClr val="B8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858767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8F0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8404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C403A"/>
                </a:solidFill>
              </a:defRPr>
            </a:pPr>
            <a:r>
              <a:t>成果報告產出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3749039"/>
            <a:ext cx="1280160" cy="457200"/>
          </a:xfrm>
          <a:prstGeom prst="roundRect">
            <a:avLst>
              <a:gd name="adj" fmla="val 15000"/>
            </a:avLst>
          </a:prstGeom>
          <a:solidFill>
            <a:srgbClr val="B876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382219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8F0"/>
                </a:solidFill>
              </a:defRPr>
            </a:pPr>
            <a:r>
              <a:t>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8404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22C"/>
                </a:solidFill>
              </a:defRPr>
            </a:pPr>
            <a:r>
              <a:t>品質良好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4571999"/>
            <a:ext cx="10332720" cy="0"/>
          </a:xfrm>
          <a:prstGeom prst="line">
            <a:avLst/>
          </a:prstGeom>
          <a:ln w="12700">
            <a:solidFill>
              <a:srgbClr val="E8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14400" y="4937760"/>
            <a:ext cx="548640" cy="548640"/>
          </a:xfrm>
          <a:prstGeom prst="ellipse">
            <a:avLst/>
          </a:prstGeom>
          <a:solidFill>
            <a:srgbClr val="B8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474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8F0"/>
                </a:solidFill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C403A"/>
                </a:solidFill>
              </a:defRPr>
            </a:pPr>
            <a:r>
              <a:t>風險預警機制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4937760"/>
            <a:ext cx="1280160" cy="457200"/>
          </a:xfrm>
          <a:prstGeom prst="roundRect">
            <a:avLst>
              <a:gd name="adj" fmla="val 15000"/>
            </a:avLst>
          </a:prstGeom>
          <a:solidFill>
            <a:srgbClr val="B876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50109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8F0"/>
                </a:solidFill>
              </a:defRPr>
            </a:pPr>
            <a:r>
              <a:t>已完成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22C"/>
                </a:solidFill>
              </a:defRPr>
            </a:pPr>
            <a:r>
              <a:t>持續優化</a:t>
            </a:r>
          </a:p>
        </p:txBody>
      </p:sp>
      <p:sp>
        <p:nvSpPr>
          <p:cNvPr id="32" name="Oval 31"/>
          <p:cNvSpPr/>
          <p:nvPr/>
        </p:nvSpPr>
        <p:spPr>
          <a:xfrm>
            <a:off x="10515600" y="5303520"/>
            <a:ext cx="914400" cy="914400"/>
          </a:xfrm>
          <a:prstGeom prst="ellipse">
            <a:avLst/>
          </a:prstGeom>
          <a:solidFill>
            <a:srgbClr val="E8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89920" y="5577840"/>
            <a:ext cx="457200" cy="457200"/>
          </a:xfrm>
          <a:prstGeom prst="ellipse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E8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C403A"/>
                </a:solidFill>
              </a:defRPr>
            </a:pPr>
            <a:r>
              <a:t>專案</a:t>
            </a:r>
            <a:br/>
            <a:r>
              <a:t>報告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2103120"/>
            <a:ext cx="2286000" cy="0"/>
          </a:xfrm>
          <a:prstGeom prst="line">
            <a:avLst/>
          </a:prstGeom>
          <a:ln w="25400">
            <a:solidFill>
              <a:srgbClr val="C9A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0" y="1097280"/>
            <a:ext cx="1463040" cy="731520"/>
          </a:xfrm>
          <a:prstGeom prst="roundRect">
            <a:avLst>
              <a:gd name="adj" fmla="val 15000"/>
            </a:avLst>
          </a:prstGeom>
          <a:solidFill>
            <a:srgbClr val="5C40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8F0"/>
                </a:solidFill>
              </a:defRPr>
            </a:pPr>
            <a:r>
              <a:t>局長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0" y="1828800"/>
            <a:ext cx="0" cy="731520"/>
          </a:xfrm>
          <a:prstGeom prst="line">
            <a:avLst/>
          </a:prstGeom>
          <a:ln w="25400">
            <a:solidFill>
              <a:srgbClr val="C9A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0" y="2560320"/>
            <a:ext cx="4206240" cy="0"/>
          </a:xfrm>
          <a:prstGeom prst="line">
            <a:avLst/>
          </a:prstGeom>
          <a:ln w="25400">
            <a:solidFill>
              <a:srgbClr val="C9A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94960" y="2560320"/>
            <a:ext cx="0" cy="640080"/>
          </a:xfrm>
          <a:prstGeom prst="line">
            <a:avLst/>
          </a:prstGeom>
          <a:ln w="25400">
            <a:solidFill>
              <a:srgbClr val="C9A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54880" y="3200400"/>
            <a:ext cx="1280160" cy="640080"/>
          </a:xfrm>
          <a:prstGeom prst="roundRect">
            <a:avLst>
              <a:gd name="adj" fmla="val 15000"/>
            </a:avLst>
          </a:prstGeom>
          <a:solidFill>
            <a:srgbClr val="B876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31012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8F0"/>
                </a:solidFill>
              </a:defRPr>
            </a:pPr>
            <a:r>
              <a:t>副局長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966959" y="2560320"/>
            <a:ext cx="0" cy="640080"/>
          </a:xfrm>
          <a:prstGeom prst="line">
            <a:avLst/>
          </a:prstGeom>
          <a:ln w="25400">
            <a:solidFill>
              <a:srgbClr val="C9A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26880" y="3200400"/>
            <a:ext cx="1280160" cy="640080"/>
          </a:xfrm>
          <a:prstGeom prst="roundRect">
            <a:avLst>
              <a:gd name="adj" fmla="val 15000"/>
            </a:avLst>
          </a:prstGeom>
          <a:solidFill>
            <a:srgbClr val="B876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331012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8F0"/>
                </a:solidFill>
              </a:defRPr>
            </a:pPr>
            <a:r>
              <a:t>主任秘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94760" y="3840480"/>
            <a:ext cx="0" cy="457200"/>
          </a:xfrm>
          <a:prstGeom prst="line">
            <a:avLst/>
          </a:prstGeom>
          <a:ln w="25400">
            <a:solidFill>
              <a:srgbClr val="C9A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00400" y="4297680"/>
            <a:ext cx="1188720" cy="594360"/>
          </a:xfrm>
          <a:prstGeom prst="roundRect">
            <a:avLst>
              <a:gd name="adj" fmla="val 15000"/>
            </a:avLst>
          </a:prstGeom>
          <a:solidFill>
            <a:srgbClr val="E8E0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44074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C403A"/>
                </a:solidFill>
              </a:defRPr>
            </a:pPr>
            <a:r>
              <a:t>計畫科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37960" y="3840480"/>
            <a:ext cx="0" cy="457200"/>
          </a:xfrm>
          <a:prstGeom prst="line">
            <a:avLst/>
          </a:prstGeom>
          <a:ln w="25400">
            <a:solidFill>
              <a:srgbClr val="C9A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943600" y="4297680"/>
            <a:ext cx="1188720" cy="594360"/>
          </a:xfrm>
          <a:prstGeom prst="roundRect">
            <a:avLst>
              <a:gd name="adj" fmla="val 15000"/>
            </a:avLst>
          </a:prstGeom>
          <a:solidFill>
            <a:srgbClr val="E8E0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4074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C403A"/>
                </a:solidFill>
              </a:defRPr>
            </a:pPr>
            <a:r>
              <a:t>管考科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81160" y="3840480"/>
            <a:ext cx="0" cy="457200"/>
          </a:xfrm>
          <a:prstGeom prst="line">
            <a:avLst/>
          </a:prstGeom>
          <a:ln w="25400">
            <a:solidFill>
              <a:srgbClr val="C9A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86800" y="4297680"/>
            <a:ext cx="1188720" cy="594360"/>
          </a:xfrm>
          <a:prstGeom prst="roundRect">
            <a:avLst>
              <a:gd name="adj" fmla="val 15000"/>
            </a:avLst>
          </a:prstGeom>
          <a:solidFill>
            <a:srgbClr val="E8E0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44074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C403A"/>
                </a:solidFill>
              </a:defRPr>
            </a:pPr>
            <a:r>
              <a:t>執行科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C403A"/>
                </a:solidFill>
              </a:defRPr>
            </a:pPr>
            <a:r>
              <a:t>結語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1097280" cy="0"/>
          </a:xfrm>
          <a:prstGeom prst="line">
            <a:avLst/>
          </a:prstGeom>
          <a:ln w="25400">
            <a:solidFill>
              <a:srgbClr val="C9A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2011680"/>
            <a:ext cx="5029200" cy="1645920"/>
          </a:xfrm>
          <a:prstGeom prst="roundRect">
            <a:avLst>
              <a:gd name="adj" fmla="val 15000"/>
            </a:avLst>
          </a:prstGeom>
          <a:solidFill>
            <a:srgbClr val="F5F0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2606040"/>
            <a:ext cx="457200" cy="457200"/>
          </a:xfrm>
          <a:prstGeom prst="ellipse">
            <a:avLst/>
          </a:prstGeom>
          <a:solidFill>
            <a:srgbClr val="B8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697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8F0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560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322C"/>
                </a:solidFill>
              </a:defRPr>
            </a:pPr>
            <a:r>
              <a:t>業務推動依計畫時程執行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029200" cy="1645920"/>
          </a:xfrm>
          <a:prstGeom prst="roundRect">
            <a:avLst>
              <a:gd name="adj" fmla="val 15000"/>
            </a:avLst>
          </a:prstGeom>
          <a:solidFill>
            <a:srgbClr val="F5F0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0" y="2606040"/>
            <a:ext cx="457200" cy="457200"/>
          </a:xfrm>
          <a:prstGeom prst="ellipse">
            <a:avLst/>
          </a:prstGeom>
          <a:solidFill>
            <a:srgbClr val="B8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697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8F0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2560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322C"/>
                </a:solidFill>
              </a:defRPr>
            </a:pPr>
            <a:r>
              <a:t>管考追蹤系統運作順暢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14800"/>
            <a:ext cx="5029200" cy="1645920"/>
          </a:xfrm>
          <a:prstGeom prst="roundRect">
            <a:avLst>
              <a:gd name="adj" fmla="val 15000"/>
            </a:avLst>
          </a:prstGeom>
          <a:solidFill>
            <a:srgbClr val="F5F0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80160" y="4709160"/>
            <a:ext cx="457200" cy="457200"/>
          </a:xfrm>
          <a:prstGeom prst="ellipse">
            <a:avLst/>
          </a:prstGeom>
          <a:solidFill>
            <a:srgbClr val="B8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800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8F0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322C"/>
                </a:solidFill>
              </a:defRPr>
            </a:pPr>
            <a:r>
              <a:t>落後案件持續管催改善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114800"/>
            <a:ext cx="5029200" cy="1645920"/>
          </a:xfrm>
          <a:prstGeom prst="roundRect">
            <a:avLst>
              <a:gd name="adj" fmla="val 15000"/>
            </a:avLst>
          </a:prstGeom>
          <a:solidFill>
            <a:srgbClr val="F5F0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66560" y="4709160"/>
            <a:ext cx="457200" cy="457200"/>
          </a:xfrm>
          <a:prstGeom prst="ellipse">
            <a:avLst/>
          </a:prstGeom>
          <a:solidFill>
            <a:srgbClr val="B8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4800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8F0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322C"/>
                </a:solidFill>
              </a:defRPr>
            </a:pPr>
            <a:r>
              <a:t>行政效能持續提升優化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828800" y="1371600"/>
            <a:ext cx="8229600" cy="0"/>
          </a:xfrm>
          <a:prstGeom prst="line">
            <a:avLst/>
          </a:prstGeom>
          <a:ln w="25400">
            <a:solidFill>
              <a:srgbClr val="C9A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5C403A"/>
                </a:solidFill>
              </a:defRPr>
            </a:pPr>
            <a:r>
              <a:t>感謝聆聽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28800" y="4114800"/>
            <a:ext cx="8229600" cy="0"/>
          </a:xfrm>
          <a:prstGeom prst="line">
            <a:avLst/>
          </a:prstGeom>
          <a:ln w="25400">
            <a:solidFill>
              <a:srgbClr val="C9A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47548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A322C"/>
                </a:solidFill>
              </a:defRPr>
            </a:pPr>
            <a:r>
              <a:t>新北市政府人事處</a:t>
            </a:r>
          </a:p>
        </p:txBody>
      </p:sp>
      <p:sp>
        <p:nvSpPr>
          <p:cNvPr id="7" name="Oval 6"/>
          <p:cNvSpPr/>
          <p:nvPr/>
        </p:nvSpPr>
        <p:spPr>
          <a:xfrm>
            <a:off x="10058400" y="5486400"/>
            <a:ext cx="731520" cy="731520"/>
          </a:xfrm>
          <a:prstGeom prst="ellipse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0" y="5760720"/>
            <a:ext cx="365760" cy="365760"/>
          </a:xfrm>
          <a:prstGeom prst="ellipse">
            <a:avLst/>
          </a:prstGeom>
          <a:solidFill>
            <a:srgbClr val="E8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