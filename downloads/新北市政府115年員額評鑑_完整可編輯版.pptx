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6258032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8032" cy="9144000"/>
          </a:xfrm>
          <a:prstGeom prst="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2286000" cy="2286000"/>
          </a:xfrm>
          <a:prstGeom prst="roundRect">
            <a:avLst>
              <a:gd name="adj" fmla="val 5000"/>
            </a:avLst>
          </a:prstGeom>
          <a:solidFill>
            <a:srgbClr val="E8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1645920" cy="1645920"/>
          </a:xfrm>
          <a:prstGeom prst="roundRect">
            <a:avLst>
              <a:gd name="adj" fmla="val 5000"/>
            </a:avLst>
          </a:prstGeom>
          <a:solidFill>
            <a:srgbClr val="D2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097280"/>
            <a:ext cx="1097280" cy="1097280"/>
          </a:xfrm>
          <a:prstGeom prst="roundRect">
            <a:avLst>
              <a:gd name="adj" fmla="val 5000"/>
            </a:avLst>
          </a:prstGeom>
          <a:solidFill>
            <a:srgbClr val="C8A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0" y="457200"/>
            <a:ext cx="7132320" cy="8229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D2B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241280" y="1645920"/>
            <a:ext cx="4023360" cy="4023360"/>
          </a:xfrm>
          <a:prstGeom prst="roundRect">
            <a:avLst>
              <a:gd name="adj" fmla="val 30000"/>
            </a:avLst>
          </a:prstGeom>
          <a:solidFill>
            <a:srgbClr val="F5EBE0"/>
          </a:solidFill>
          <a:ln w="19050">
            <a:solidFill>
              <a:srgbClr val="D2B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972800" y="6217920"/>
            <a:ext cx="1371600" cy="1371600"/>
          </a:xfrm>
          <a:prstGeom prst="rect">
            <a:avLst/>
          </a:prstGeom>
          <a:solidFill>
            <a:srgbClr val="E8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527280" y="6858000"/>
            <a:ext cx="731520" cy="731520"/>
          </a:xfrm>
          <a:prstGeom prst="rect">
            <a:avLst/>
          </a:prstGeom>
          <a:solidFill>
            <a:srgbClr val="D2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441680" y="6309360"/>
            <a:ext cx="548640" cy="548640"/>
          </a:xfrm>
          <a:prstGeom prst="rect">
            <a:avLst/>
          </a:prstGeom>
          <a:solidFill>
            <a:srgbClr val="D2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C3320"/>
                </a:solidFill>
                <a:latin typeface="Microsoft JhengHei"/>
              </a:rPr>
              <a:t>新北市政府115年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C3320"/>
                </a:solidFill>
                <a:latin typeface="Microsoft JhengHei"/>
              </a:rPr>
              <a:t>辦理體育局及動物保護防疫處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40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8B5E3C"/>
                </a:solidFill>
                <a:latin typeface="Microsoft JhengHei"/>
              </a:rPr>
              <a:t>員額評鑑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5C3320"/>
                </a:solidFill>
                <a:latin typeface="Microsoft JhengHei"/>
              </a:rPr>
              <a:t>行前會議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846320"/>
            <a:ext cx="1828800" cy="54864"/>
          </a:xfrm>
          <a:prstGeom prst="rect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5120640"/>
            <a:ext cx="6858000" cy="3474720"/>
          </a:xfrm>
          <a:prstGeom prst="roundRect">
            <a:avLst>
              <a:gd name="adj" fmla="val 5000"/>
            </a:avLst>
          </a:prstGeom>
          <a:solidFill>
            <a:srgbClr val="FFFFF8"/>
          </a:solidFill>
          <a:ln w="12700">
            <a:solidFill>
              <a:srgbClr val="D2B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3492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5E3C"/>
                </a:solidFill>
                <a:latin typeface="Microsoft JhengHei"/>
              </a:rPr>
              <a:t>會議時間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62356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115年6月18日(星期四)  上午8時20分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0807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5E3C"/>
                </a:solidFill>
                <a:latin typeface="Microsoft JhengHei"/>
              </a:rPr>
              <a:t>會議地點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35508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本府行政大樓27樓東側2701會議室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68122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5E3C"/>
                </a:solidFill>
                <a:latin typeface="Microsoft JhengHei"/>
              </a:rPr>
              <a:t>主 持 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708660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黃德清 參事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8032" cy="9144000"/>
          </a:xfrm>
          <a:prstGeom prst="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8032" cy="1005840"/>
          </a:xfrm>
          <a:prstGeom prst="rect">
            <a:avLst/>
          </a:prstGeom>
          <a:solidFill>
            <a:srgbClr val="D2B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JhengHei"/>
              </a:rPr>
              <a:t>評鑑小組成員與參與矩陣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Microsoft JhengHei"/>
              </a:rPr>
              <a:t>專家學者與跨局處專業代表共同組成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5266944" cy="685800"/>
          </a:xfrm>
          <a:prstGeom prst="roundRect">
            <a:avLst>
              <a:gd name="adj" fmla="val 5000"/>
            </a:avLst>
          </a:prstGeom>
          <a:solidFill>
            <a:srgbClr val="8B5E3C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/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88720"/>
            <a:ext cx="3163824" cy="685800"/>
          </a:xfrm>
          <a:prstGeom prst="roundRect">
            <a:avLst>
              <a:gd name="adj" fmla="val 5000"/>
            </a:avLst>
          </a:prstGeom>
          <a:solidFill>
            <a:srgbClr val="5C3320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0" y="135331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委員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1188720"/>
            <a:ext cx="3163824" cy="685800"/>
          </a:xfrm>
          <a:prstGeom prst="roundRect">
            <a:avLst>
              <a:gd name="adj" fmla="val 5000"/>
            </a:avLst>
          </a:prstGeom>
          <a:solidFill>
            <a:srgbClr val="6B8E6B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19" y="135331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上午：體育局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70080" y="1188720"/>
            <a:ext cx="3163824" cy="685800"/>
          </a:xfrm>
          <a:prstGeom prst="roundRect">
            <a:avLst>
              <a:gd name="adj" fmla="val 5000"/>
            </a:avLst>
          </a:prstGeom>
          <a:solidFill>
            <a:srgbClr val="4A6F4A"/>
          </a:solidFill>
          <a:ln w="63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161519" y="135331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JhengHei"/>
              </a:rPr>
              <a:t>下午：動保處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901951"/>
            <a:ext cx="526694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002536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召集人：黃德清 參事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1901951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68312" y="1993391"/>
            <a:ext cx="402336" cy="402336"/>
          </a:xfrm>
          <a:prstGeom prst="ellipse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23176" y="196596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9680" y="1901951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268711" y="1993391"/>
            <a:ext cx="402336" cy="402336"/>
          </a:xfrm>
          <a:prstGeom prst="ellipse">
            <a:avLst/>
          </a:prstGeom>
          <a:solidFill>
            <a:srgbClr val="4A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323576" y="196596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496311"/>
            <a:ext cx="526694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596896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教授：國立臺北大學 呂育誠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2496311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068312" y="2587751"/>
            <a:ext cx="402336" cy="402336"/>
          </a:xfrm>
          <a:prstGeom prst="ellipse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23176" y="256032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0" y="2496311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68711" y="2587751"/>
            <a:ext cx="402336" cy="402336"/>
          </a:xfrm>
          <a:prstGeom prst="ellipse">
            <a:avLst/>
          </a:prstGeom>
          <a:solidFill>
            <a:srgbClr val="4A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23576" y="256032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3090671"/>
            <a:ext cx="526694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3191256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教授：國立體育大學 葉公鼎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0" y="3090671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68312" y="3182111"/>
            <a:ext cx="402336" cy="402336"/>
          </a:xfrm>
          <a:prstGeom prst="ellipse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23176" y="3154679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9680" y="3090671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65760" y="3685032"/>
            <a:ext cx="526694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3785615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教授：國立臺南大學 吳宗憲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0" y="368503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869680" y="368503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68711" y="3776472"/>
            <a:ext cx="402336" cy="402336"/>
          </a:xfrm>
          <a:prstGeom prst="ellipse">
            <a:avLst/>
          </a:prstGeom>
          <a:solidFill>
            <a:srgbClr val="4A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23576" y="3749039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4279392"/>
            <a:ext cx="526694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379976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專委：本府財政局 王世英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0" y="427939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068312" y="4370832"/>
            <a:ext cx="402336" cy="402336"/>
          </a:xfrm>
          <a:prstGeom prst="ellipse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23176" y="434340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869680" y="427939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268711" y="4370832"/>
            <a:ext cx="402336" cy="402336"/>
          </a:xfrm>
          <a:prstGeom prst="ellipse">
            <a:avLst/>
          </a:prstGeom>
          <a:solidFill>
            <a:srgbClr val="4A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323576" y="434340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65760" y="4873752"/>
            <a:ext cx="526694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4974336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專委：本府主計處 邱淑美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669280" y="487375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068312" y="4965192"/>
            <a:ext cx="402336" cy="402336"/>
          </a:xfrm>
          <a:prstGeom prst="ellipse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23176" y="4937759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869680" y="487375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268711" y="4965192"/>
            <a:ext cx="402336" cy="402336"/>
          </a:xfrm>
          <a:prstGeom prst="ellipse">
            <a:avLst/>
          </a:prstGeom>
          <a:solidFill>
            <a:srgbClr val="4A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323576" y="4937759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5760" y="5468112"/>
            <a:ext cx="526694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5568696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主秘：本府研考會 王瑞玲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69280" y="546811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869680" y="546811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268711" y="5559552"/>
            <a:ext cx="402336" cy="402336"/>
          </a:xfrm>
          <a:prstGeom prst="ellipse">
            <a:avLst/>
          </a:prstGeom>
          <a:solidFill>
            <a:srgbClr val="4A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323576" y="553212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5760" y="6062472"/>
            <a:ext cx="526694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8640" y="6163055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專委：本府研考會 柯雅娟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669280" y="606247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7068312" y="6153912"/>
            <a:ext cx="402336" cy="402336"/>
          </a:xfrm>
          <a:prstGeom prst="ellipse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23176" y="6126479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869680" y="606247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65760" y="6656832"/>
            <a:ext cx="526694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8640" y="6757416"/>
            <a:ext cx="493775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副處長：本府人事處 洪久雅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669280" y="665683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7068312" y="6748272"/>
            <a:ext cx="402336" cy="402336"/>
          </a:xfrm>
          <a:prstGeom prst="ellipse">
            <a:avLst/>
          </a:prstGeom>
          <a:solidFill>
            <a:srgbClr val="8B5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123176" y="672084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869680" y="6656832"/>
            <a:ext cx="3163824" cy="539496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E8E0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0268711" y="6748272"/>
            <a:ext cx="402336" cy="402336"/>
          </a:xfrm>
          <a:prstGeom prst="ellipse">
            <a:avLst/>
          </a:prstGeom>
          <a:solidFill>
            <a:srgbClr val="4A6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323576" y="6720840"/>
            <a:ext cx="3200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8032" cy="9144000"/>
          </a:xfrm>
          <a:prstGeom prst="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8032" cy="1097280"/>
          </a:xfrm>
          <a:prstGeom prst="rect">
            <a:avLst/>
          </a:prstGeom>
          <a:solidFill>
            <a:srgbClr val="5C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371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JhengHei"/>
              </a:rPr>
              <a:t>實地評鑑總覽：115年6月18日 (星期四)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0080"/>
            <a:ext cx="1371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DCCBB"/>
                </a:solidFill>
                <a:latin typeface="Microsoft JhengHei"/>
              </a:rPr>
              <a:t>採實地查訪與個別訪談，分上下午兩場次進行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F5EBE0"/>
          </a:solidFill>
          <a:ln w="12700">
            <a:solidFill>
              <a:srgbClr val="D2B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8B5E3C"/>
                </a:solidFill>
                <a:latin typeface="Microsoft JhengHei"/>
              </a:rPr>
              <a:t>🚗 08:50 出發 (於B2集合)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920240"/>
            <a:ext cx="150876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8B5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057400"/>
            <a:ext cx="2926080" cy="1737360"/>
          </a:xfrm>
          <a:prstGeom prst="rect">
            <a:avLst/>
          </a:prstGeom>
          <a:solidFill>
            <a:srgbClr val="F5E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1488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B5E3C"/>
                </a:solidFill>
                <a:latin typeface="Microsoft JhengHei"/>
              </a:rPr>
              <a:t>上午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3320"/>
                </a:solidFill>
                <a:latin typeface="Microsoft JhengHei"/>
              </a:rPr>
              <a:t>時間：09:00 - 12:00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0" y="2057400"/>
            <a:ext cx="4114800" cy="1737360"/>
          </a:xfrm>
          <a:prstGeom prst="rect">
            <a:avLst/>
          </a:prstGeom>
          <a:solidFill>
            <a:srgbClr val="E8D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1488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5E3C"/>
                </a:solidFill>
                <a:latin typeface="Microsoft JhengHei"/>
              </a:rPr>
              <a:t>機關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5146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5C3320"/>
                </a:solidFill>
                <a:latin typeface="Microsoft JhengHei"/>
              </a:rPr>
              <a:t>體育局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2057400"/>
            <a:ext cx="71323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14884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📋 業務簡報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265176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💬 分組個別訪談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15468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👥 綜合座談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160520"/>
            <a:ext cx="2286000" cy="502920"/>
          </a:xfrm>
          <a:prstGeom prst="roundRect">
            <a:avLst>
              <a:gd name="adj" fmla="val 5000"/>
            </a:avLst>
          </a:prstGeom>
          <a:solidFill>
            <a:srgbClr val="E8EEE0"/>
          </a:solidFill>
          <a:ln w="12700">
            <a:solidFill>
              <a:srgbClr val="6B8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23367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6F4A"/>
                </a:solidFill>
                <a:latin typeface="Microsoft JhengHei"/>
              </a:rPr>
              <a:t>🚗 13:20 出發 (於B2集合)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" y="4800600"/>
            <a:ext cx="15087600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6B8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937760"/>
            <a:ext cx="2926080" cy="1737360"/>
          </a:xfrm>
          <a:prstGeom prst="rect">
            <a:avLst/>
          </a:prstGeom>
          <a:solidFill>
            <a:srgbClr val="E8EE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5029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A6F4A"/>
                </a:solidFill>
                <a:latin typeface="Microsoft JhengHei"/>
              </a:rPr>
              <a:t>下午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440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3320"/>
                </a:solidFill>
                <a:latin typeface="Microsoft JhengHei"/>
              </a:rPr>
              <a:t>時間：13:30 - 16:30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4937760"/>
            <a:ext cx="4114800" cy="1737360"/>
          </a:xfrm>
          <a:prstGeom prst="rect">
            <a:avLst/>
          </a:prstGeom>
          <a:solidFill>
            <a:srgbClr val="D5DD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50292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A6F4A"/>
                </a:solidFill>
                <a:latin typeface="Microsoft JhengHei"/>
              </a:rPr>
              <a:t>機關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94760" y="539496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320"/>
                </a:solidFill>
                <a:latin typeface="Microsoft JhengHei"/>
              </a:rPr>
              <a:t>動物保護防疫處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79" y="4937760"/>
            <a:ext cx="713232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502920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📋 業務簡報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553212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💬 分組個別訪談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6035040"/>
            <a:ext cx="6766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3320"/>
                </a:solidFill>
                <a:latin typeface="Microsoft JhengHei"/>
              </a:rPr>
              <a:t>👥 綜合座談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77724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5E3C"/>
                </a:solidFill>
                <a:latin typeface="Microsoft JhengHei"/>
              </a:rPr>
              <a:t>上午：體育局        下午：動保處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58032" cy="9144000"/>
          </a:xfrm>
          <a:prstGeom prst="rect">
            <a:avLst/>
          </a:prstGeom>
          <a:solidFill>
            <a:srgbClr val="FFF5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74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C3320"/>
                </a:solidFill>
                <a:latin typeface="Microsoft JhengHei"/>
              </a:rPr>
              <a:t>評鑑核心目標與六大檢視面向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B5E3C"/>
                </a:solidFill>
                <a:latin typeface="Microsoft JhengHei"/>
              </a:rPr>
              <a:t>掌握機關運作現況，提出具體改善措施以優化人力與業務運作</a:t>
            </a:r>
          </a:p>
        </p:txBody>
      </p:sp>
      <p:sp>
        <p:nvSpPr>
          <p:cNvPr id="5" name="Oval 4"/>
          <p:cNvSpPr/>
          <p:nvPr/>
        </p:nvSpPr>
        <p:spPr>
          <a:xfrm>
            <a:off x="7132320" y="1828800"/>
            <a:ext cx="5852160" cy="5852160"/>
          </a:xfrm>
          <a:prstGeom prst="ellipse">
            <a:avLst/>
          </a:prstGeom>
          <a:solidFill>
            <a:srgbClr val="F5EBE0"/>
          </a:solidFill>
          <a:ln w="25400">
            <a:solidFill>
              <a:srgbClr val="D2B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95360" y="3291840"/>
            <a:ext cx="2926080" cy="2926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2B4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326880" y="914399"/>
            <a:ext cx="146304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8B5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0" y="987551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5E3C"/>
                </a:solidFill>
                <a:latin typeface="Microsoft JhengHei"/>
              </a:rPr>
              <a:t>組織面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8494" y="2697480"/>
            <a:ext cx="146304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9B7A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38494" y="277063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9B7A56"/>
                </a:solidFill>
                <a:latin typeface="Microsoft JhengHei"/>
              </a:rPr>
              <a:t>業務面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8494" y="6263640"/>
            <a:ext cx="146304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8B6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8494" y="633679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8B6E4A"/>
                </a:solidFill>
                <a:latin typeface="Microsoft JhengHei"/>
              </a:rPr>
              <a:t>人力面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26880" y="8046720"/>
            <a:ext cx="146304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7A5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811987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7A5E3E"/>
                </a:solidFill>
                <a:latin typeface="Microsoft JhengHei"/>
              </a:rPr>
              <a:t>財務面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415265" y="6263640"/>
            <a:ext cx="146304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6B50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415265" y="633679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6B5032"/>
                </a:solidFill>
                <a:latin typeface="Microsoft JhengHei"/>
              </a:rPr>
              <a:t>工作方法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2415265" y="2697480"/>
            <a:ext cx="1463040" cy="594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5C42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15265" y="2770632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5C4228"/>
                </a:solidFill>
                <a:latin typeface="Microsoft JhengHei"/>
              </a:rPr>
              <a:t>多元人力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7589520"/>
            <a:ext cx="6858000" cy="502920"/>
          </a:xfrm>
          <a:prstGeom prst="rect">
            <a:avLst/>
          </a:prstGeom>
          <a:solidFill>
            <a:srgbClr val="5C33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7662672"/>
            <a:ext cx="6675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Microsoft JhengHei"/>
              </a:rPr>
              <a:t>掌握機關運作現況，提出具體措施，以優化人力與業務運作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